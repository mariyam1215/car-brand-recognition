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Calibri"/>
              </a:defRPr>
            </a:pPr>
            <a:r>
              <a:rPr sz="1400" b="0" i="0" u="none" strike="noStrike">
                <a:solidFill>
                  <a:srgbClr val="0E1A2B"/>
                </a:solidFill>
                <a:latin typeface="Calibri"/>
              </a:rPr>
              <a:t>12 largest brands, photos per brand</a:t>
            </a:r>
          </a:p>
        </c:rich>
      </c:tx>
      <c:layout/>
      <c:overlay val="0"/>
    </c:title>
    <c:autoTitleDeleted val="0"/>
    <c:plotArea>
      <c:layout/>
      <c:barChart>
        <c:barDir val="bar"/>
        <c:grouping val="clustered"/>
        <c:varyColors val="0"/>
        <c:ser>
          <c:idx val="0"/>
          <c:order val="0"/>
          <c:tx>
            <c:strRef>
              <c:f>Sheet1!$B$1</c:f>
              <c:strCache>
                <c:ptCount val="1"/>
                <c:pt idx="0">
                  <c:v>Photos</c:v>
                </c:pt>
              </c:strCache>
            </c:strRef>
          </c:tx>
          <c:spPr>
            <a:solidFill>
              <a:srgbClr val="2A78D6"/>
            </a:solidFill>
            <a:effectLst/>
          </c:spPr>
          <c:invertIfNegative val="0"/>
          <c:dLbls>
            <c:numFmt formatCode="#,##0" sourceLinked="0"/>
            <c:txPr>
              <a:bodyPr/>
              <a:lstStyle/>
              <a:p>
                <a:pPr>
                  <a:defRPr b="0" i="0" strike="noStrike" sz="1100" u="none">
                    <a:solidFill>
                      <a:srgbClr val="5B6573"/>
                    </a:solidFill>
                    <a:latin typeface="Arial"/>
                  </a:defRPr>
                </a:pPr>
              </a:p>
            </c:txPr>
            <c:showLegendKey val="0"/>
            <c:showVal val="1"/>
            <c:showCatName val="0"/>
            <c:showSerName val="0"/>
            <c:showPercent val="0"/>
            <c:showBubbleSize val="0"/>
            <c:showLeaderLines val="0"/>
          </c:dLbls>
          <c:cat>
            <c:multiLvlStrRef>
              <c:f>Sheet1!$A$2:$A$13</c:f>
              <c:multiLvlStrCache>
                <c:ptCount val="12"/>
                <c:lvl>
                  <c:pt idx="0">
                    <c:v>Chevrolet</c:v>
                  </c:pt>
                  <c:pt idx="1">
                    <c:v>Dodge</c:v>
                  </c:pt>
                  <c:pt idx="2">
                    <c:v>Audi</c:v>
                  </c:pt>
                  <c:pt idx="3">
                    <c:v>BMW</c:v>
                  </c:pt>
                  <c:pt idx="4">
                    <c:v>Ford</c:v>
                  </c:pt>
                  <c:pt idx="5">
                    <c:v>Hyundai</c:v>
                  </c:pt>
                  <c:pt idx="6">
                    <c:v>Mercedes-Benz</c:v>
                  </c:pt>
                  <c:pt idx="7">
                    <c:v>Chrysler</c:v>
                  </c:pt>
                  <c:pt idx="8">
                    <c:v>Acura</c:v>
                  </c:pt>
                  <c:pt idx="9">
                    <c:v>GMC</c:v>
                  </c:pt>
                  <c:pt idx="10">
                    <c:v>Bentley</c:v>
                  </c:pt>
                  <c:pt idx="11">
                    <c:v>Jeep</c:v>
                  </c:pt>
                </c:lvl>
              </c:multiLvlStrCache>
            </c:multiLvlStrRef>
          </c:cat>
          <c:val>
            <c:numRef>
              <c:f>Sheet1!$B$2:$B$13</c:f>
              <c:numCache>
                <c:formatCode>General</c:formatCode>
                <c:ptCount val="12"/>
                <c:pt idx="0">
                  <c:v>1799</c:v>
                </c:pt>
                <c:pt idx="1">
                  <c:v>1253</c:v>
                </c:pt>
                <c:pt idx="2">
                  <c:v>1169</c:v>
                </c:pt>
                <c:pt idx="3">
                  <c:v>1055</c:v>
                </c:pt>
                <c:pt idx="4">
                  <c:v>1035</c:v>
                </c:pt>
                <c:pt idx="5">
                  <c:v>871</c:v>
                </c:pt>
                <c:pt idx="6">
                  <c:v>518</c:v>
                </c:pt>
                <c:pt idx="7">
                  <c:v>516</c:v>
                </c:pt>
                <c:pt idx="8">
                  <c:v>482</c:v>
                </c:pt>
                <c:pt idx="9">
                  <c:v>473</c:v>
                </c:pt>
                <c:pt idx="10">
                  <c:v>472</c:v>
                </c:pt>
                <c:pt idx="11">
                  <c:v>438</c:v>
                </c:pt>
              </c:numCache>
            </c:numRef>
          </c:val>
        </c:ser>
        <c:dLbls>
          <c:numFmt formatCode="#,##0" sourceLinked="0"/>
          <c:txPr>
            <a:bodyPr/>
            <a:lstStyle/>
            <a:p>
              <a:pPr>
                <a:defRPr b="0" i="0" strike="noStrike" sz="1100" u="none">
                  <a:solidFill>
                    <a:srgbClr val="5B657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E1A2B"/>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Calibri"/>
              </a:defRPr>
            </a:pPr>
            <a:r>
              <a:rPr sz="1400" b="0" i="0" u="none" strike="noStrike">
                <a:solidFill>
                  <a:srgbClr val="0E1A2B"/>
                </a:solidFill>
                <a:latin typeface="Calibri"/>
              </a:rPr>
              <a:t>Top-1 test accuracy (%)</a:t>
            </a:r>
          </a:p>
        </c:rich>
      </c:tx>
      <c:layout/>
      <c:overlay val="0"/>
    </c:title>
    <c:autoTitleDeleted val="0"/>
    <c:plotArea>
      <c:layout/>
      <c:barChart>
        <c:barDir val="col"/>
        <c:grouping val="clustered"/>
        <c:varyColors val="0"/>
        <c:ser>
          <c:idx val="0"/>
          <c:order val="0"/>
          <c:tx>
            <c:strRef>
              <c:f>Sheet1!$B$1</c:f>
              <c:strCache>
                <c:ptCount val="1"/>
                <c:pt idx="0">
                  <c:v>Top-1 accuracy</c:v>
                </c:pt>
              </c:strCache>
            </c:strRef>
          </c:tx>
          <c:spPr>
            <a:solidFill>
              <a:srgbClr val="2A78D6"/>
            </a:solidFill>
            <a:effectLst/>
          </c:spPr>
          <c:invertIfNegative val="0"/>
          <c:dLbls>
            <c:numFmt formatCode="0.0" sourceLinked="0"/>
            <c:txPr>
              <a:bodyPr/>
              <a:lstStyle/>
              <a:p>
                <a:pPr>
                  <a:defRPr b="0" i="0" strike="noStrike" sz="1600" u="none">
                    <a:solidFill>
                      <a:srgbClr val="0E1A2B"/>
                    </a:solidFill>
                    <a:latin typeface="Arial"/>
                  </a:defRPr>
                </a:pPr>
              </a:p>
            </c:txPr>
            <c:showLegendKey val="0"/>
            <c:showVal val="1"/>
            <c:showCatName val="0"/>
            <c:showSerName val="0"/>
            <c:showPercent val="0"/>
            <c:showBubbleSize val="0"/>
            <c:showLeaderLines val="0"/>
          </c:dLbls>
          <c:cat>
            <c:multiLvlStrRef>
              <c:f>Sheet1!$A$2:$A$3</c:f>
              <c:multiLvlStrCache>
                <c:ptCount val="2"/>
                <c:lvl>
                  <c:pt idx="0">
                    <c:v>Linear probe</c:v>
                  </c:pt>
                  <c:pt idx="1">
                    <c:v>Fine-tuned</c:v>
                  </c:pt>
                </c:lvl>
              </c:multiLvlStrCache>
            </c:multiLvlStrRef>
          </c:cat>
          <c:val>
            <c:numRef>
              <c:f>Sheet1!$B$2:$B$3</c:f>
              <c:numCache>
                <c:formatCode>General</c:formatCode>
                <c:ptCount val="2"/>
                <c:pt idx="0">
                  <c:v>60.4</c:v>
                </c:pt>
                <c:pt idx="1">
                  <c:v>86.8</c:v>
                </c:pt>
              </c:numCache>
            </c:numRef>
          </c:val>
        </c:ser>
        <c:dLbls>
          <c:numFmt formatCode="0.0" sourceLinked="0"/>
          <c:txPr>
            <a:bodyPr/>
            <a:lstStyle/>
            <a:p>
              <a:pPr>
                <a:defRPr b="0" i="0" strike="noStrike" sz="1600" u="none">
                  <a:solidFill>
                    <a:srgbClr val="0E1A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E1A2B"/>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9D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This project is a car brand recognition system: you give it a photo of a car and it tells you which of 49 brands made it, for example Audi, BMW, Ferrari or Toyota. I will walk through the data, the model, the results, and the website where you can try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Recognising a car brand sounds easy for people, but cars from the same brand look very different across models and years, and cars from different brands can look alike. Applications include smart parking, traffic analysis, used-car listings and insurance. Our goal: build a classifier that takes any car photo and outputs the brand, and deploy it as a web app anyone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public Stanford Cars dataset, a secondary dataset. It has 16185 photos, each labelled with make, model and year, 196 classes in total. We kept only the make, which gives 49 brands. We use the official test split of 8041 photos only for the final evaluation, and hold out ten percent of each brand's training photos for validation. The chart shows the imbalance: Chevrolet has over 1,700 photos while some brands have under 100, so we report macro F1 as well as accuracy and use mild class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workflow. We download the dataset and turn the make-model-year labels into brand labels. We resize every photo to 224 by 224 pixels. A pre-trained EfficientNetV2 network is trained in two stages. We evaluate on the held-out test photos, export the model to the ONNX format, and the website runs that ONNX file directly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 deep network from scratch needs millions of images. Instead we start from EfficientNetV2-B0, already trained on ImageNet, so it knows edges, shapes and textures. On top we add a dropout layer and a dense softmax layer with one output per brand. Stage one freezes the backbone and trains only the new layer, which is a quick baseline. Stage two unfreezes the upper blocks and fine-tunes everything with data augmentation. The network has about six million parameters, so it is small enough to run in a web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training details. We use the AdamW optimiser with a cosine learning-rate schedule and one warm-up epoch. Label smoothing of point one keeps the model from becoming over-confident. Because brands have very different numbers of photos, we weight samples by the inverse square root of their class frequency. Augmentation - flips, small rotations, shifts, zoom, brightness and contrast - helps the model generalise. Everything trained on a CPU, no GPU needed, and the best epoch was picked using the validation set, never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plot shows loss and the right shows accuracy for each epoch. Solid lines are the training set, dashed lines are validation. The best validation accuracy was 86.6%. Validation accuracy keeps improving while training accuracy stays close, so we are not badly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8041 official test photos, which the model never saw, fine-tuning reaches 86.8% top-1 accuracy and 95.8% top-3 accuracy. Macro F1 is 0.87, meaning every brand counts equally regardless of size. Compared with only training the final layer, which gives 60.4%, fine-tuning adds 26.3 percentage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Per-brand F1 scores. The easiest brands are MINI, Geo, HUMMER, Isuzu, Maybach. The hardest are Mitsubishi, Porsche, Eagle, Suzuki, Ram. Brands that are represented by a single model, or that have few photos, tend to be harder, and brands whose models resemble each other get confused.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for each true brand, which brand the model predicted. A strong diagonal means correct answers. The table lists the most frequent mistakes. These are mostly brands that share a parent company, a body style or a similar design, which is also where a human would hesitate.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twelve random test photos with the predicted brand, the confidence and the true brand. Wrong answers are shown in red. Note that these are random, not hand-picked.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trained model is converted to ONNX and shipped with the website. When you upload a photo, ONNX Runtime Web runs the model inside your browser using WebAssembly. That means there is no server to maintain, it is fast, and your photo never leaves your device. The site is a static site hosted on Vercel, and it also shows the dataset, code, results, and links to the report, slides, video and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limitations: several brands are represented by only one model in the dataset, so other models from that brand may be missed. Most photos show cars from before 2013, so brand-new designs are out of distribution. The model has no unknown class, so it always names one of the 49 brands, and low confidence is the signal to distrust it. For future work we could add a detection step to crop the car, train on a larger and more recent dataset, add an unknown class, and use a higher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transfer learning with a small modern network gives strong brand recognition even on a CPU, and exporting to ONNX lets us deploy the whole thing as a static website. Thank you for watching, and please try the demo and check the code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Car Brand Recognition</a:t>
            </a:r>
            <a:endParaRPr lang="en-US" sz="4800" dirty="0"/>
          </a:p>
        </p:txBody>
      </p:sp>
      <p:sp>
        <p:nvSpPr>
          <p:cNvPr id="3" name="Text 1"/>
          <p:cNvSpPr txBox="1"/>
          <p:nvPr/>
        </p:nvSpPr>
        <p:spPr>
          <a:xfrm>
            <a:off x="640080" y="2331720"/>
            <a:ext cx="6766560" cy="822960"/>
          </a:xfrm>
          <a:prstGeom prst="rect">
            <a:avLst/>
          </a:prstGeom>
          <a:noFill/>
          <a:ln/>
        </p:spPr>
        <p:txBody>
          <a:bodyPr wrap="square" lIns="0" tIns="0" rIns="0" bIns="0" rtlCol="0" anchor="t"/>
          <a:lstStyle/>
          <a:p>
            <a:pPr indent="0" marL="0">
              <a:buNone/>
            </a:pPr>
            <a:r>
              <a:rPr lang="en-US" sz="2200" dirty="0">
                <a:solidFill>
                  <a:srgbClr val="BBD2F0"/>
                </a:solidFill>
                <a:latin typeface="Calibri" pitchFamily="34" charset="0"/>
                <a:ea typeface="Calibri" pitchFamily="34" charset="-122"/>
                <a:cs typeface="Calibri" pitchFamily="34" charset="-120"/>
              </a:rPr>
              <a:t>Naming the make of a car from a single photo with deep learning</a:t>
            </a:r>
            <a:endParaRPr lang="en-US" sz="2200" dirty="0"/>
          </a:p>
        </p:txBody>
      </p:sp>
      <p:sp>
        <p:nvSpPr>
          <p:cNvPr id="4" name="Text 2"/>
          <p:cNvSpPr txBox="1"/>
          <p:nvPr/>
        </p:nvSpPr>
        <p:spPr>
          <a:xfrm>
            <a:off x="640080" y="4114800"/>
            <a:ext cx="7863840" cy="365760"/>
          </a:xfrm>
          <a:prstGeom prst="rect">
            <a:avLst/>
          </a:prstGeom>
          <a:noFill/>
          <a:ln/>
        </p:spPr>
        <p:txBody>
          <a:bodyPr wrap="square" lIns="0" tIns="0" rIns="0" bIns="0" rtlCol="0" anchor="ctr"/>
          <a:lstStyle/>
          <a:p>
            <a:pPr indent="0" marL="0">
              <a:buNone/>
            </a:pPr>
            <a:r>
              <a:rPr lang="en-US" sz="1600" dirty="0">
                <a:solidFill>
                  <a:srgbClr val="8FA7C7"/>
                </a:solidFill>
                <a:latin typeface="Calibri" pitchFamily="34" charset="0"/>
                <a:ea typeface="Calibri" pitchFamily="34" charset="-122"/>
                <a:cs typeface="Calibri" pitchFamily="34" charset="-120"/>
              </a:rPr>
              <a:t>Deep Learning semester 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The problem: which brand is this car?</a:t>
            </a:r>
            <a:endParaRPr lang="en-US" sz="3200" dirty="0"/>
          </a:p>
        </p:txBody>
      </p:sp>
      <p:sp>
        <p:nvSpPr>
          <p:cNvPr id="4" name="Text 1"/>
          <p:cNvSpPr txBox="1"/>
          <p:nvPr/>
        </p:nvSpPr>
        <p:spPr>
          <a:xfrm>
            <a:off x="457200" y="1234440"/>
            <a:ext cx="475488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Input: one photo of a car, any angle</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Output: the brand, from 49 makes, with a confidence score</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Hard because a brand spans many shapes, colours and years, while different brands can look alike</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Use cases: parking and tolls, listings, insurance, fleet analytics</a:t>
            </a:r>
            <a:endParaRPr lang="en-US" sz="1600" dirty="0"/>
          </a:p>
        </p:txBody>
      </p:sp>
      <p:sp>
        <p:nvSpPr>
          <p:cNvPr id="5" name="Shape 2"/>
          <p:cNvSpPr/>
          <p:nvPr/>
        </p:nvSpPr>
        <p:spPr>
          <a:xfrm>
            <a:off x="5669280" y="1234440"/>
            <a:ext cx="3017520" cy="1143000"/>
          </a:xfrm>
          <a:prstGeom prst="roundRect">
            <a:avLst>
              <a:gd name="adj" fmla="val 6400"/>
            </a:avLst>
          </a:prstGeom>
          <a:solidFill>
            <a:srgbClr val="EAF1FB"/>
          </a:solidFill>
          <a:ln w="12700">
            <a:solidFill>
              <a:srgbClr val="EAF1FB"/>
            </a:solidFill>
            <a:prstDash val="solid"/>
          </a:ln>
        </p:spPr>
      </p:sp>
      <p:sp>
        <p:nvSpPr>
          <p:cNvPr id="6" name="Text 3"/>
          <p:cNvSpPr txBox="1"/>
          <p:nvPr/>
        </p:nvSpPr>
        <p:spPr>
          <a:xfrm>
            <a:off x="5852160" y="1325880"/>
            <a:ext cx="2651760" cy="594360"/>
          </a:xfrm>
          <a:prstGeom prst="rect">
            <a:avLst/>
          </a:prstGeom>
          <a:noFill/>
          <a:ln/>
        </p:spPr>
        <p:txBody>
          <a:bodyPr wrap="square" lIns="0" tIns="0" rIns="0" bIns="0" rtlCol="0" anchor="ctr"/>
          <a:lstStyle/>
          <a:p>
            <a:pPr indent="0" marL="0">
              <a:buNone/>
            </a:pPr>
            <a:r>
              <a:rPr lang="en-US" sz="3800" b="1" dirty="0">
                <a:solidFill>
                  <a:srgbClr val="2A78D6"/>
                </a:solidFill>
                <a:latin typeface="Calibri" pitchFamily="34" charset="0"/>
                <a:ea typeface="Calibri" pitchFamily="34" charset="-122"/>
                <a:cs typeface="Calibri" pitchFamily="34" charset="-120"/>
              </a:rPr>
              <a:t>49</a:t>
            </a:r>
            <a:endParaRPr lang="en-US" sz="3800" dirty="0"/>
          </a:p>
        </p:txBody>
      </p:sp>
      <p:sp>
        <p:nvSpPr>
          <p:cNvPr id="7" name="Text 4"/>
          <p:cNvSpPr txBox="1"/>
          <p:nvPr/>
        </p:nvSpPr>
        <p:spPr>
          <a:xfrm>
            <a:off x="5852160" y="1920240"/>
            <a:ext cx="2651760" cy="36576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brands to tell apart</a:t>
            </a:r>
            <a:endParaRPr lang="en-US" sz="1300" dirty="0"/>
          </a:p>
        </p:txBody>
      </p:sp>
      <p:sp>
        <p:nvSpPr>
          <p:cNvPr id="8" name="Shape 5"/>
          <p:cNvSpPr/>
          <p:nvPr/>
        </p:nvSpPr>
        <p:spPr>
          <a:xfrm>
            <a:off x="5669280" y="2606040"/>
            <a:ext cx="3017520" cy="1143000"/>
          </a:xfrm>
          <a:prstGeom prst="roundRect">
            <a:avLst>
              <a:gd name="adj" fmla="val 6400"/>
            </a:avLst>
          </a:prstGeom>
          <a:solidFill>
            <a:srgbClr val="EAF1FB"/>
          </a:solidFill>
          <a:ln w="12700">
            <a:solidFill>
              <a:srgbClr val="EAF1FB"/>
            </a:solidFill>
            <a:prstDash val="solid"/>
          </a:ln>
        </p:spPr>
      </p:sp>
      <p:sp>
        <p:nvSpPr>
          <p:cNvPr id="9" name="Text 6"/>
          <p:cNvSpPr txBox="1"/>
          <p:nvPr/>
        </p:nvSpPr>
        <p:spPr>
          <a:xfrm>
            <a:off x="5852160" y="2697480"/>
            <a:ext cx="2651760" cy="594360"/>
          </a:xfrm>
          <a:prstGeom prst="rect">
            <a:avLst/>
          </a:prstGeom>
          <a:noFill/>
          <a:ln/>
        </p:spPr>
        <p:txBody>
          <a:bodyPr wrap="square" lIns="0" tIns="0" rIns="0" bIns="0" rtlCol="0" anchor="ctr"/>
          <a:lstStyle/>
          <a:p>
            <a:pPr indent="0" marL="0">
              <a:buNone/>
            </a:pPr>
            <a:r>
              <a:rPr lang="en-US" sz="3800" b="1" dirty="0">
                <a:solidFill>
                  <a:srgbClr val="0E1A2B"/>
                </a:solidFill>
                <a:latin typeface="Calibri" pitchFamily="34" charset="0"/>
                <a:ea typeface="Calibri" pitchFamily="34" charset="-122"/>
                <a:cs typeface="Calibri" pitchFamily="34" charset="-120"/>
              </a:rPr>
              <a:t>16,185</a:t>
            </a:r>
            <a:endParaRPr lang="en-US" sz="3800" dirty="0"/>
          </a:p>
        </p:txBody>
      </p:sp>
      <p:sp>
        <p:nvSpPr>
          <p:cNvPr id="10" name="Text 7"/>
          <p:cNvSpPr txBox="1"/>
          <p:nvPr/>
        </p:nvSpPr>
        <p:spPr>
          <a:xfrm>
            <a:off x="5852160" y="3291840"/>
            <a:ext cx="2651760" cy="36576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labelled photos in the dataset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Dataset: Stanford Cars</a:t>
            </a:r>
            <a:endParaRPr lang="en-US" sz="3200" dirty="0"/>
          </a:p>
        </p:txBody>
      </p:sp>
      <p:sp>
        <p:nvSpPr>
          <p:cNvPr id="4" name="Shape 1"/>
          <p:cNvSpPr/>
          <p:nvPr/>
        </p:nvSpPr>
        <p:spPr>
          <a:xfrm>
            <a:off x="457200" y="1188720"/>
            <a:ext cx="2560320" cy="1143000"/>
          </a:xfrm>
          <a:prstGeom prst="roundRect">
            <a:avLst>
              <a:gd name="adj" fmla="val 6400"/>
            </a:avLst>
          </a:prstGeom>
          <a:solidFill>
            <a:srgbClr val="EAF1FB"/>
          </a:solidFill>
          <a:ln w="12700">
            <a:solidFill>
              <a:srgbClr val="EAF1FB"/>
            </a:solidFill>
            <a:prstDash val="solid"/>
          </a:ln>
        </p:spPr>
      </p:sp>
      <p:sp>
        <p:nvSpPr>
          <p:cNvPr id="5" name="Text 2"/>
          <p:cNvSpPr txBox="1"/>
          <p:nvPr/>
        </p:nvSpPr>
        <p:spPr>
          <a:xfrm>
            <a:off x="640080" y="1280160"/>
            <a:ext cx="2194560" cy="594360"/>
          </a:xfrm>
          <a:prstGeom prst="rect">
            <a:avLst/>
          </a:prstGeom>
          <a:noFill/>
          <a:ln/>
        </p:spPr>
        <p:txBody>
          <a:bodyPr wrap="square" lIns="0" tIns="0" rIns="0" bIns="0" rtlCol="0" anchor="ctr"/>
          <a:lstStyle/>
          <a:p>
            <a:pPr indent="0" marL="0">
              <a:buNone/>
            </a:pPr>
            <a:r>
              <a:rPr lang="en-US" sz="3800" b="1" dirty="0">
                <a:solidFill>
                  <a:srgbClr val="2A78D6"/>
                </a:solidFill>
                <a:latin typeface="Calibri" pitchFamily="34" charset="0"/>
                <a:ea typeface="Calibri" pitchFamily="34" charset="-122"/>
                <a:cs typeface="Calibri" pitchFamily="34" charset="-120"/>
              </a:rPr>
              <a:t>7,331</a:t>
            </a:r>
            <a:endParaRPr lang="en-US" sz="3800" dirty="0"/>
          </a:p>
        </p:txBody>
      </p:sp>
      <p:sp>
        <p:nvSpPr>
          <p:cNvPr id="6" name="Text 3"/>
          <p:cNvSpPr txBox="1"/>
          <p:nvPr/>
        </p:nvSpPr>
        <p:spPr>
          <a:xfrm>
            <a:off x="640080" y="1874520"/>
            <a:ext cx="2194560" cy="36576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train photos</a:t>
            </a:r>
            <a:endParaRPr lang="en-US" sz="1300" dirty="0"/>
          </a:p>
        </p:txBody>
      </p:sp>
      <p:sp>
        <p:nvSpPr>
          <p:cNvPr id="7" name="Shape 4"/>
          <p:cNvSpPr/>
          <p:nvPr/>
        </p:nvSpPr>
        <p:spPr>
          <a:xfrm>
            <a:off x="457200" y="2468880"/>
            <a:ext cx="2560320" cy="1143000"/>
          </a:xfrm>
          <a:prstGeom prst="roundRect">
            <a:avLst>
              <a:gd name="adj" fmla="val 6400"/>
            </a:avLst>
          </a:prstGeom>
          <a:solidFill>
            <a:srgbClr val="EAF1FB"/>
          </a:solidFill>
          <a:ln w="12700">
            <a:solidFill>
              <a:srgbClr val="EAF1FB"/>
            </a:solidFill>
            <a:prstDash val="solid"/>
          </a:ln>
        </p:spPr>
      </p:sp>
      <p:sp>
        <p:nvSpPr>
          <p:cNvPr id="8" name="Text 5"/>
          <p:cNvSpPr txBox="1"/>
          <p:nvPr/>
        </p:nvSpPr>
        <p:spPr>
          <a:xfrm>
            <a:off x="640080" y="2560320"/>
            <a:ext cx="2194560" cy="594360"/>
          </a:xfrm>
          <a:prstGeom prst="rect">
            <a:avLst/>
          </a:prstGeom>
          <a:noFill/>
          <a:ln/>
        </p:spPr>
        <p:txBody>
          <a:bodyPr wrap="square" lIns="0" tIns="0" rIns="0" bIns="0" rtlCol="0" anchor="ctr"/>
          <a:lstStyle/>
          <a:p>
            <a:pPr indent="0" marL="0">
              <a:buNone/>
            </a:pPr>
            <a:r>
              <a:rPr lang="en-US" sz="3800" b="1" dirty="0">
                <a:solidFill>
                  <a:srgbClr val="2A78D6"/>
                </a:solidFill>
                <a:latin typeface="Calibri" pitchFamily="34" charset="0"/>
                <a:ea typeface="Calibri" pitchFamily="34" charset="-122"/>
                <a:cs typeface="Calibri" pitchFamily="34" charset="-120"/>
              </a:rPr>
              <a:t>813</a:t>
            </a:r>
            <a:endParaRPr lang="en-US" sz="3800" dirty="0"/>
          </a:p>
        </p:txBody>
      </p:sp>
      <p:sp>
        <p:nvSpPr>
          <p:cNvPr id="9" name="Text 6"/>
          <p:cNvSpPr txBox="1"/>
          <p:nvPr/>
        </p:nvSpPr>
        <p:spPr>
          <a:xfrm>
            <a:off x="640080" y="3154680"/>
            <a:ext cx="2194560" cy="36576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validation photos</a:t>
            </a:r>
            <a:endParaRPr lang="en-US" sz="1300" dirty="0"/>
          </a:p>
        </p:txBody>
      </p:sp>
      <p:sp>
        <p:nvSpPr>
          <p:cNvPr id="10" name="Shape 7"/>
          <p:cNvSpPr/>
          <p:nvPr/>
        </p:nvSpPr>
        <p:spPr>
          <a:xfrm>
            <a:off x="457200" y="3749040"/>
            <a:ext cx="2560320" cy="1143000"/>
          </a:xfrm>
          <a:prstGeom prst="roundRect">
            <a:avLst>
              <a:gd name="adj" fmla="val 6400"/>
            </a:avLst>
          </a:prstGeom>
          <a:solidFill>
            <a:srgbClr val="EAF1FB"/>
          </a:solidFill>
          <a:ln w="12700">
            <a:solidFill>
              <a:srgbClr val="EAF1FB"/>
            </a:solidFill>
            <a:prstDash val="solid"/>
          </a:ln>
        </p:spPr>
      </p:sp>
      <p:sp>
        <p:nvSpPr>
          <p:cNvPr id="11" name="Text 8"/>
          <p:cNvSpPr txBox="1"/>
          <p:nvPr/>
        </p:nvSpPr>
        <p:spPr>
          <a:xfrm>
            <a:off x="640080" y="3840480"/>
            <a:ext cx="2194560" cy="594360"/>
          </a:xfrm>
          <a:prstGeom prst="rect">
            <a:avLst/>
          </a:prstGeom>
          <a:noFill/>
          <a:ln/>
        </p:spPr>
        <p:txBody>
          <a:bodyPr wrap="square" lIns="0" tIns="0" rIns="0" bIns="0" rtlCol="0" anchor="ctr"/>
          <a:lstStyle/>
          <a:p>
            <a:pPr indent="0" marL="0">
              <a:buNone/>
            </a:pPr>
            <a:r>
              <a:rPr lang="en-US" sz="3800" b="1" dirty="0">
                <a:solidFill>
                  <a:srgbClr val="0E1A2B"/>
                </a:solidFill>
                <a:latin typeface="Calibri" pitchFamily="34" charset="0"/>
                <a:ea typeface="Calibri" pitchFamily="34" charset="-122"/>
                <a:cs typeface="Calibri" pitchFamily="34" charset="-120"/>
              </a:rPr>
              <a:t>8,041</a:t>
            </a:r>
            <a:endParaRPr lang="en-US" sz="3800" dirty="0"/>
          </a:p>
        </p:txBody>
      </p:sp>
      <p:sp>
        <p:nvSpPr>
          <p:cNvPr id="12" name="Text 9"/>
          <p:cNvSpPr txBox="1"/>
          <p:nvPr/>
        </p:nvSpPr>
        <p:spPr>
          <a:xfrm>
            <a:off x="640080" y="4434840"/>
            <a:ext cx="2194560" cy="36576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test photos (official split)</a:t>
            </a:r>
            <a:endParaRPr lang="en-US" sz="1300" dirty="0"/>
          </a:p>
        </p:txBody>
      </p:sp>
      <p:graphicFrame>
        <p:nvGraphicFramePr>
          <p:cNvPr id="13" name="Chart 0" descr=""/>
          <p:cNvGraphicFramePr/>
          <p:nvPr/>
        </p:nvGraphicFramePr>
        <p:xfrm>
          <a:off x="3291840" y="1143000"/>
          <a:ext cx="5486400" cy="3703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The pipeline, end to end</a:t>
            </a:r>
            <a:endParaRPr lang="en-US" sz="3200" dirty="0"/>
          </a:p>
        </p:txBody>
      </p:sp>
      <p:sp>
        <p:nvSpPr>
          <p:cNvPr id="4" name="Shape 1"/>
          <p:cNvSpPr/>
          <p:nvPr/>
        </p:nvSpPr>
        <p:spPr>
          <a:xfrm>
            <a:off x="457200" y="1280160"/>
            <a:ext cx="2606040" cy="1463040"/>
          </a:xfrm>
          <a:prstGeom prst="roundRect">
            <a:avLst>
              <a:gd name="adj" fmla="val 5000"/>
            </a:avLst>
          </a:prstGeom>
          <a:solidFill>
            <a:srgbClr val="EAF1FB"/>
          </a:solidFill>
          <a:ln w="12700">
            <a:solidFill>
              <a:srgbClr val="EAF1FB"/>
            </a:solidFill>
            <a:prstDash val="solid"/>
          </a:ln>
        </p:spPr>
      </p:sp>
      <p:sp>
        <p:nvSpPr>
          <p:cNvPr id="5" name="Text 2"/>
          <p:cNvSpPr txBox="1"/>
          <p:nvPr/>
        </p:nvSpPr>
        <p:spPr>
          <a:xfrm>
            <a:off x="640080" y="1417320"/>
            <a:ext cx="457200" cy="457200"/>
          </a:xfrm>
          <a:prstGeom prst="rect">
            <a:avLst/>
          </a:prstGeom>
          <a:noFill/>
          <a:ln/>
        </p:spPr>
        <p:txBody>
          <a:bodyPr wrap="square" lIns="0" tIns="0" rIns="0" bIns="0" rtlCol="0" anchor="ctr"/>
          <a:lstStyle/>
          <a:p>
            <a:pPr indent="0" marL="0">
              <a:buNone/>
            </a:pPr>
            <a:r>
              <a:rPr lang="en-US" sz="2400" b="1" dirty="0">
                <a:solidFill>
                  <a:srgbClr val="2A78D6"/>
                </a:solidFill>
                <a:latin typeface="Calibri" pitchFamily="34" charset="0"/>
                <a:ea typeface="Calibri" pitchFamily="34" charset="-122"/>
                <a:cs typeface="Calibri" pitchFamily="34" charset="-120"/>
              </a:rPr>
              <a:t>1</a:t>
            </a:r>
            <a:endParaRPr lang="en-US" sz="2400" dirty="0"/>
          </a:p>
        </p:txBody>
      </p:sp>
      <p:sp>
        <p:nvSpPr>
          <p:cNvPr id="6" name="Text 3"/>
          <p:cNvSpPr txBox="1"/>
          <p:nvPr/>
        </p:nvSpPr>
        <p:spPr>
          <a:xfrm>
            <a:off x="640080" y="1828800"/>
            <a:ext cx="2240280" cy="3657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Data</a:t>
            </a:r>
            <a:endParaRPr lang="en-US" sz="2000" dirty="0"/>
          </a:p>
        </p:txBody>
      </p:sp>
      <p:sp>
        <p:nvSpPr>
          <p:cNvPr id="7" name="Text 4"/>
          <p:cNvSpPr txBox="1"/>
          <p:nvPr/>
        </p:nvSpPr>
        <p:spPr>
          <a:xfrm>
            <a:off x="640080" y="2194560"/>
            <a:ext cx="2240280" cy="4572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Stanford Cars, make extracted as label</a:t>
            </a:r>
            <a:endParaRPr lang="en-US" sz="1400" dirty="0"/>
          </a:p>
        </p:txBody>
      </p:sp>
      <p:sp>
        <p:nvSpPr>
          <p:cNvPr id="8" name="Shape 5"/>
          <p:cNvSpPr/>
          <p:nvPr/>
        </p:nvSpPr>
        <p:spPr>
          <a:xfrm>
            <a:off x="3246120" y="1280160"/>
            <a:ext cx="2606040" cy="1463040"/>
          </a:xfrm>
          <a:prstGeom prst="roundRect">
            <a:avLst>
              <a:gd name="adj" fmla="val 5000"/>
            </a:avLst>
          </a:prstGeom>
          <a:solidFill>
            <a:srgbClr val="EAF1FB"/>
          </a:solidFill>
          <a:ln w="12700">
            <a:solidFill>
              <a:srgbClr val="EAF1FB"/>
            </a:solidFill>
            <a:prstDash val="solid"/>
          </a:ln>
        </p:spPr>
      </p:sp>
      <p:sp>
        <p:nvSpPr>
          <p:cNvPr id="9" name="Text 6"/>
          <p:cNvSpPr txBox="1"/>
          <p:nvPr/>
        </p:nvSpPr>
        <p:spPr>
          <a:xfrm>
            <a:off x="3429000" y="1417320"/>
            <a:ext cx="457200" cy="457200"/>
          </a:xfrm>
          <a:prstGeom prst="rect">
            <a:avLst/>
          </a:prstGeom>
          <a:noFill/>
          <a:ln/>
        </p:spPr>
        <p:txBody>
          <a:bodyPr wrap="square" lIns="0" tIns="0" rIns="0" bIns="0" rtlCol="0" anchor="ctr"/>
          <a:lstStyle/>
          <a:p>
            <a:pPr indent="0" marL="0">
              <a:buNone/>
            </a:pPr>
            <a:r>
              <a:rPr lang="en-US" sz="2400" b="1" dirty="0">
                <a:solidFill>
                  <a:srgbClr val="2A78D6"/>
                </a:solidFill>
                <a:latin typeface="Calibri" pitchFamily="34" charset="0"/>
                <a:ea typeface="Calibri" pitchFamily="34" charset="-122"/>
                <a:cs typeface="Calibri" pitchFamily="34" charset="-120"/>
              </a:rPr>
              <a:t>2</a:t>
            </a:r>
            <a:endParaRPr lang="en-US" sz="2400" dirty="0"/>
          </a:p>
        </p:txBody>
      </p:sp>
      <p:sp>
        <p:nvSpPr>
          <p:cNvPr id="10" name="Text 7"/>
          <p:cNvSpPr txBox="1"/>
          <p:nvPr/>
        </p:nvSpPr>
        <p:spPr>
          <a:xfrm>
            <a:off x="3429000" y="1828800"/>
            <a:ext cx="2240280" cy="3657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Preprocess</a:t>
            </a:r>
            <a:endParaRPr lang="en-US" sz="2000" dirty="0"/>
          </a:p>
        </p:txBody>
      </p:sp>
      <p:sp>
        <p:nvSpPr>
          <p:cNvPr id="11" name="Text 8"/>
          <p:cNvSpPr txBox="1"/>
          <p:nvPr/>
        </p:nvSpPr>
        <p:spPr>
          <a:xfrm>
            <a:off x="3429000" y="2194560"/>
            <a:ext cx="2240280" cy="4572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224 x 224 RGB, train / val / test</a:t>
            </a:r>
            <a:endParaRPr lang="en-US" sz="1400" dirty="0"/>
          </a:p>
        </p:txBody>
      </p:sp>
      <p:sp>
        <p:nvSpPr>
          <p:cNvPr id="12" name="Shape 9"/>
          <p:cNvSpPr/>
          <p:nvPr/>
        </p:nvSpPr>
        <p:spPr>
          <a:xfrm>
            <a:off x="6035040" y="1280160"/>
            <a:ext cx="2606040" cy="1463040"/>
          </a:xfrm>
          <a:prstGeom prst="roundRect">
            <a:avLst>
              <a:gd name="adj" fmla="val 5000"/>
            </a:avLst>
          </a:prstGeom>
          <a:solidFill>
            <a:srgbClr val="EAF1FB"/>
          </a:solidFill>
          <a:ln w="12700">
            <a:solidFill>
              <a:srgbClr val="EAF1FB"/>
            </a:solidFill>
            <a:prstDash val="solid"/>
          </a:ln>
        </p:spPr>
      </p:sp>
      <p:sp>
        <p:nvSpPr>
          <p:cNvPr id="13" name="Text 10"/>
          <p:cNvSpPr txBox="1"/>
          <p:nvPr/>
        </p:nvSpPr>
        <p:spPr>
          <a:xfrm>
            <a:off x="6217920" y="1417320"/>
            <a:ext cx="457200" cy="457200"/>
          </a:xfrm>
          <a:prstGeom prst="rect">
            <a:avLst/>
          </a:prstGeom>
          <a:noFill/>
          <a:ln/>
        </p:spPr>
        <p:txBody>
          <a:bodyPr wrap="square" lIns="0" tIns="0" rIns="0" bIns="0" rtlCol="0" anchor="ctr"/>
          <a:lstStyle/>
          <a:p>
            <a:pPr indent="0" marL="0">
              <a:buNone/>
            </a:pPr>
            <a:r>
              <a:rPr lang="en-US" sz="2400" b="1" dirty="0">
                <a:solidFill>
                  <a:srgbClr val="2A78D6"/>
                </a:solidFill>
                <a:latin typeface="Calibri" pitchFamily="34" charset="0"/>
                <a:ea typeface="Calibri" pitchFamily="34" charset="-122"/>
                <a:cs typeface="Calibri" pitchFamily="34" charset="-120"/>
              </a:rPr>
              <a:t>3</a:t>
            </a:r>
            <a:endParaRPr lang="en-US" sz="2400" dirty="0"/>
          </a:p>
        </p:txBody>
      </p:sp>
      <p:sp>
        <p:nvSpPr>
          <p:cNvPr id="14" name="Text 11"/>
          <p:cNvSpPr txBox="1"/>
          <p:nvPr/>
        </p:nvSpPr>
        <p:spPr>
          <a:xfrm>
            <a:off x="6217920" y="1828800"/>
            <a:ext cx="2240280" cy="3657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Train</a:t>
            </a:r>
            <a:endParaRPr lang="en-US" sz="2000" dirty="0"/>
          </a:p>
        </p:txBody>
      </p:sp>
      <p:sp>
        <p:nvSpPr>
          <p:cNvPr id="15" name="Text 12"/>
          <p:cNvSpPr txBox="1"/>
          <p:nvPr/>
        </p:nvSpPr>
        <p:spPr>
          <a:xfrm>
            <a:off x="6217920" y="2194560"/>
            <a:ext cx="2240280" cy="4572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transfer learning + fine-tuning</a:t>
            </a:r>
            <a:endParaRPr lang="en-US" sz="1400" dirty="0"/>
          </a:p>
        </p:txBody>
      </p:sp>
      <p:sp>
        <p:nvSpPr>
          <p:cNvPr id="16" name="Shape 13"/>
          <p:cNvSpPr/>
          <p:nvPr/>
        </p:nvSpPr>
        <p:spPr>
          <a:xfrm>
            <a:off x="457200" y="3017520"/>
            <a:ext cx="2606040" cy="1463040"/>
          </a:xfrm>
          <a:prstGeom prst="roundRect">
            <a:avLst>
              <a:gd name="adj" fmla="val 5000"/>
            </a:avLst>
          </a:prstGeom>
          <a:solidFill>
            <a:srgbClr val="EAF1FB"/>
          </a:solidFill>
          <a:ln w="12700">
            <a:solidFill>
              <a:srgbClr val="EAF1FB"/>
            </a:solidFill>
            <a:prstDash val="solid"/>
          </a:ln>
        </p:spPr>
      </p:sp>
      <p:sp>
        <p:nvSpPr>
          <p:cNvPr id="17" name="Text 14"/>
          <p:cNvSpPr txBox="1"/>
          <p:nvPr/>
        </p:nvSpPr>
        <p:spPr>
          <a:xfrm>
            <a:off x="640080" y="3154680"/>
            <a:ext cx="457200" cy="457200"/>
          </a:xfrm>
          <a:prstGeom prst="rect">
            <a:avLst/>
          </a:prstGeom>
          <a:noFill/>
          <a:ln/>
        </p:spPr>
        <p:txBody>
          <a:bodyPr wrap="square" lIns="0" tIns="0" rIns="0" bIns="0" rtlCol="0" anchor="ctr"/>
          <a:lstStyle/>
          <a:p>
            <a:pPr indent="0" marL="0">
              <a:buNone/>
            </a:pPr>
            <a:r>
              <a:rPr lang="en-US" sz="2400" b="1" dirty="0">
                <a:solidFill>
                  <a:srgbClr val="2A78D6"/>
                </a:solidFill>
                <a:latin typeface="Calibri" pitchFamily="34" charset="0"/>
                <a:ea typeface="Calibri" pitchFamily="34" charset="-122"/>
                <a:cs typeface="Calibri" pitchFamily="34" charset="-120"/>
              </a:rPr>
              <a:t>4</a:t>
            </a:r>
            <a:endParaRPr lang="en-US" sz="2400" dirty="0"/>
          </a:p>
        </p:txBody>
      </p:sp>
      <p:sp>
        <p:nvSpPr>
          <p:cNvPr id="18" name="Text 15"/>
          <p:cNvSpPr txBox="1"/>
          <p:nvPr/>
        </p:nvSpPr>
        <p:spPr>
          <a:xfrm>
            <a:off x="640080" y="3566160"/>
            <a:ext cx="2240280" cy="3657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Evaluate</a:t>
            </a:r>
            <a:endParaRPr lang="en-US" sz="2000" dirty="0"/>
          </a:p>
        </p:txBody>
      </p:sp>
      <p:sp>
        <p:nvSpPr>
          <p:cNvPr id="19" name="Text 16"/>
          <p:cNvSpPr txBox="1"/>
          <p:nvPr/>
        </p:nvSpPr>
        <p:spPr>
          <a:xfrm>
            <a:off x="640080" y="3931920"/>
            <a:ext cx="2240280" cy="4572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accuracy, F1, confusion matrix</a:t>
            </a:r>
            <a:endParaRPr lang="en-US" sz="1400" dirty="0"/>
          </a:p>
        </p:txBody>
      </p:sp>
      <p:sp>
        <p:nvSpPr>
          <p:cNvPr id="20" name="Shape 17"/>
          <p:cNvSpPr/>
          <p:nvPr/>
        </p:nvSpPr>
        <p:spPr>
          <a:xfrm>
            <a:off x="3246120" y="3017520"/>
            <a:ext cx="2606040" cy="1463040"/>
          </a:xfrm>
          <a:prstGeom prst="roundRect">
            <a:avLst>
              <a:gd name="adj" fmla="val 5000"/>
            </a:avLst>
          </a:prstGeom>
          <a:solidFill>
            <a:srgbClr val="EAF1FB"/>
          </a:solidFill>
          <a:ln w="12700">
            <a:solidFill>
              <a:srgbClr val="EAF1FB"/>
            </a:solidFill>
            <a:prstDash val="solid"/>
          </a:ln>
        </p:spPr>
      </p:sp>
      <p:sp>
        <p:nvSpPr>
          <p:cNvPr id="21" name="Text 18"/>
          <p:cNvSpPr txBox="1"/>
          <p:nvPr/>
        </p:nvSpPr>
        <p:spPr>
          <a:xfrm>
            <a:off x="3429000" y="3154680"/>
            <a:ext cx="457200" cy="457200"/>
          </a:xfrm>
          <a:prstGeom prst="rect">
            <a:avLst/>
          </a:prstGeom>
          <a:noFill/>
          <a:ln/>
        </p:spPr>
        <p:txBody>
          <a:bodyPr wrap="square" lIns="0" tIns="0" rIns="0" bIns="0" rtlCol="0" anchor="ctr"/>
          <a:lstStyle/>
          <a:p>
            <a:pPr indent="0" marL="0">
              <a:buNone/>
            </a:pPr>
            <a:r>
              <a:rPr lang="en-US" sz="2400" b="1" dirty="0">
                <a:solidFill>
                  <a:srgbClr val="2A78D6"/>
                </a:solidFill>
                <a:latin typeface="Calibri" pitchFamily="34" charset="0"/>
                <a:ea typeface="Calibri" pitchFamily="34" charset="-122"/>
                <a:cs typeface="Calibri" pitchFamily="34" charset="-120"/>
              </a:rPr>
              <a:t>5</a:t>
            </a:r>
            <a:endParaRPr lang="en-US" sz="2400" dirty="0"/>
          </a:p>
        </p:txBody>
      </p:sp>
      <p:sp>
        <p:nvSpPr>
          <p:cNvPr id="22" name="Text 19"/>
          <p:cNvSpPr txBox="1"/>
          <p:nvPr/>
        </p:nvSpPr>
        <p:spPr>
          <a:xfrm>
            <a:off x="3429000" y="3566160"/>
            <a:ext cx="2240280" cy="3657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Export</a:t>
            </a:r>
            <a:endParaRPr lang="en-US" sz="2000" dirty="0"/>
          </a:p>
        </p:txBody>
      </p:sp>
      <p:sp>
        <p:nvSpPr>
          <p:cNvPr id="23" name="Text 20"/>
          <p:cNvSpPr txBox="1"/>
          <p:nvPr/>
        </p:nvSpPr>
        <p:spPr>
          <a:xfrm>
            <a:off x="3429000" y="3931920"/>
            <a:ext cx="2240280" cy="4572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Keras to ONNX, 24 MB</a:t>
            </a:r>
            <a:endParaRPr lang="en-US" sz="1400" dirty="0"/>
          </a:p>
        </p:txBody>
      </p:sp>
      <p:sp>
        <p:nvSpPr>
          <p:cNvPr id="24" name="Shape 21"/>
          <p:cNvSpPr/>
          <p:nvPr/>
        </p:nvSpPr>
        <p:spPr>
          <a:xfrm>
            <a:off x="6035040" y="3017520"/>
            <a:ext cx="2606040" cy="1463040"/>
          </a:xfrm>
          <a:prstGeom prst="roundRect">
            <a:avLst>
              <a:gd name="adj" fmla="val 5000"/>
            </a:avLst>
          </a:prstGeom>
          <a:solidFill>
            <a:srgbClr val="EAF1FB"/>
          </a:solidFill>
          <a:ln w="12700">
            <a:solidFill>
              <a:srgbClr val="EAF1FB"/>
            </a:solidFill>
            <a:prstDash val="solid"/>
          </a:ln>
        </p:spPr>
      </p:sp>
      <p:sp>
        <p:nvSpPr>
          <p:cNvPr id="25" name="Text 22"/>
          <p:cNvSpPr txBox="1"/>
          <p:nvPr/>
        </p:nvSpPr>
        <p:spPr>
          <a:xfrm>
            <a:off x="6217920" y="3154680"/>
            <a:ext cx="457200" cy="457200"/>
          </a:xfrm>
          <a:prstGeom prst="rect">
            <a:avLst/>
          </a:prstGeom>
          <a:noFill/>
          <a:ln/>
        </p:spPr>
        <p:txBody>
          <a:bodyPr wrap="square" lIns="0" tIns="0" rIns="0" bIns="0" rtlCol="0" anchor="ctr"/>
          <a:lstStyle/>
          <a:p>
            <a:pPr indent="0" marL="0">
              <a:buNone/>
            </a:pPr>
            <a:r>
              <a:rPr lang="en-US" sz="2400" b="1" dirty="0">
                <a:solidFill>
                  <a:srgbClr val="2A78D6"/>
                </a:solidFill>
                <a:latin typeface="Calibri" pitchFamily="34" charset="0"/>
                <a:ea typeface="Calibri" pitchFamily="34" charset="-122"/>
                <a:cs typeface="Calibri" pitchFamily="34" charset="-120"/>
              </a:rPr>
              <a:t>6</a:t>
            </a:r>
            <a:endParaRPr lang="en-US" sz="2400" dirty="0"/>
          </a:p>
        </p:txBody>
      </p:sp>
      <p:sp>
        <p:nvSpPr>
          <p:cNvPr id="26" name="Text 23"/>
          <p:cNvSpPr txBox="1"/>
          <p:nvPr/>
        </p:nvSpPr>
        <p:spPr>
          <a:xfrm>
            <a:off x="6217920" y="3566160"/>
            <a:ext cx="2240280" cy="3657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Deploy</a:t>
            </a:r>
            <a:endParaRPr lang="en-US" sz="2000" dirty="0"/>
          </a:p>
        </p:txBody>
      </p:sp>
      <p:sp>
        <p:nvSpPr>
          <p:cNvPr id="27" name="Text 24"/>
          <p:cNvSpPr txBox="1"/>
          <p:nvPr/>
        </p:nvSpPr>
        <p:spPr>
          <a:xfrm>
            <a:off x="6217920" y="3931920"/>
            <a:ext cx="2240280" cy="4572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Vercel site, runs in the browser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Model: transfer learning with EfficientNetV2-B0</a:t>
            </a:r>
            <a:endParaRPr lang="en-US" sz="3200" dirty="0"/>
          </a:p>
        </p:txBody>
      </p:sp>
      <p:sp>
        <p:nvSpPr>
          <p:cNvPr id="4" name="Shape 1"/>
          <p:cNvSpPr/>
          <p:nvPr/>
        </p:nvSpPr>
        <p:spPr>
          <a:xfrm>
            <a:off x="457200" y="1280160"/>
            <a:ext cx="1920240" cy="1234440"/>
          </a:xfrm>
          <a:prstGeom prst="roundRect">
            <a:avLst>
              <a:gd name="adj" fmla="val 5926"/>
            </a:avLst>
          </a:prstGeom>
          <a:solidFill>
            <a:srgbClr val="EAF1FB"/>
          </a:solidFill>
          <a:ln w="12700">
            <a:solidFill>
              <a:srgbClr val="EAF1FB"/>
            </a:solidFill>
            <a:prstDash val="solid"/>
          </a:ln>
        </p:spPr>
      </p:sp>
      <p:sp>
        <p:nvSpPr>
          <p:cNvPr id="5" name="Text 2"/>
          <p:cNvSpPr txBox="1"/>
          <p:nvPr/>
        </p:nvSpPr>
        <p:spPr>
          <a:xfrm>
            <a:off x="594360" y="1371600"/>
            <a:ext cx="1645920" cy="548640"/>
          </a:xfrm>
          <a:prstGeom prst="rect">
            <a:avLst/>
          </a:prstGeom>
          <a:noFill/>
          <a:ln/>
        </p:spPr>
        <p:txBody>
          <a:bodyPr wrap="square" lIns="0" tIns="0" rIns="0" bIns="0" rtlCol="0" anchor="ctr"/>
          <a:lstStyle/>
          <a:p>
            <a:pPr indent="0" marL="0">
              <a:buNone/>
            </a:pPr>
            <a:r>
              <a:rPr lang="en-US" sz="1600" b="1" dirty="0">
                <a:solidFill>
                  <a:srgbClr val="0E1A2B"/>
                </a:solidFill>
                <a:latin typeface="Calibri" pitchFamily="34" charset="0"/>
                <a:ea typeface="Calibri" pitchFamily="34" charset="-122"/>
                <a:cs typeface="Calibri" pitchFamily="34" charset="-120"/>
              </a:rPr>
              <a:t>Photo</a:t>
            </a:r>
            <a:endParaRPr lang="en-US" sz="1600" dirty="0"/>
          </a:p>
        </p:txBody>
      </p:sp>
      <p:sp>
        <p:nvSpPr>
          <p:cNvPr id="6" name="Text 3"/>
          <p:cNvSpPr txBox="1"/>
          <p:nvPr/>
        </p:nvSpPr>
        <p:spPr>
          <a:xfrm>
            <a:off x="594360" y="1920240"/>
            <a:ext cx="1645920" cy="50292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224 x 224 x 3</a:t>
            </a:r>
            <a:endParaRPr lang="en-US" sz="1200" dirty="0"/>
          </a:p>
        </p:txBody>
      </p:sp>
      <p:sp>
        <p:nvSpPr>
          <p:cNvPr id="7" name="Shape 4"/>
          <p:cNvSpPr/>
          <p:nvPr/>
        </p:nvSpPr>
        <p:spPr>
          <a:xfrm>
            <a:off x="2560320" y="1280160"/>
            <a:ext cx="1920240" cy="1234440"/>
          </a:xfrm>
          <a:prstGeom prst="roundRect">
            <a:avLst>
              <a:gd name="adj" fmla="val 5926"/>
            </a:avLst>
          </a:prstGeom>
          <a:solidFill>
            <a:srgbClr val="2A78D6"/>
          </a:solidFill>
          <a:ln w="12700">
            <a:solidFill>
              <a:srgbClr val="2A78D6"/>
            </a:solidFill>
            <a:prstDash val="solid"/>
          </a:ln>
        </p:spPr>
      </p:sp>
      <p:sp>
        <p:nvSpPr>
          <p:cNvPr id="8" name="Text 5"/>
          <p:cNvSpPr txBox="1"/>
          <p:nvPr/>
        </p:nvSpPr>
        <p:spPr>
          <a:xfrm>
            <a:off x="2697480" y="1371600"/>
            <a:ext cx="16459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EfficientNetV2-B0</a:t>
            </a:r>
            <a:endParaRPr lang="en-US" sz="1600" dirty="0"/>
          </a:p>
        </p:txBody>
      </p:sp>
      <p:sp>
        <p:nvSpPr>
          <p:cNvPr id="9" name="Text 6"/>
          <p:cNvSpPr txBox="1"/>
          <p:nvPr/>
        </p:nvSpPr>
        <p:spPr>
          <a:xfrm>
            <a:off x="2697480" y="1920240"/>
            <a:ext cx="1645920" cy="502920"/>
          </a:xfrm>
          <a:prstGeom prst="rect">
            <a:avLst/>
          </a:prstGeom>
          <a:noFill/>
          <a:ln/>
        </p:spPr>
        <p:txBody>
          <a:bodyPr wrap="square" lIns="0" tIns="0" rIns="0" bIns="0" rtlCol="0" anchor="t"/>
          <a:lstStyle/>
          <a:p>
            <a:pPr indent="0" marL="0">
              <a:buNone/>
            </a:pPr>
            <a:r>
              <a:rPr lang="en-US" sz="1200" dirty="0">
                <a:solidFill>
                  <a:srgbClr val="DCE9FA"/>
                </a:solidFill>
                <a:latin typeface="Calibri" pitchFamily="34" charset="0"/>
                <a:ea typeface="Calibri" pitchFamily="34" charset="-122"/>
                <a:cs typeface="Calibri" pitchFamily="34" charset="-120"/>
              </a:rPr>
              <a:t>ImageNet weights, 5.9M params</a:t>
            </a:r>
            <a:endParaRPr lang="en-US" sz="1200" dirty="0"/>
          </a:p>
        </p:txBody>
      </p:sp>
      <p:sp>
        <p:nvSpPr>
          <p:cNvPr id="10" name="Shape 7"/>
          <p:cNvSpPr/>
          <p:nvPr/>
        </p:nvSpPr>
        <p:spPr>
          <a:xfrm>
            <a:off x="4663440" y="1280160"/>
            <a:ext cx="1920240" cy="1234440"/>
          </a:xfrm>
          <a:prstGeom prst="roundRect">
            <a:avLst>
              <a:gd name="adj" fmla="val 5926"/>
            </a:avLst>
          </a:prstGeom>
          <a:solidFill>
            <a:srgbClr val="EAF1FB"/>
          </a:solidFill>
          <a:ln w="12700">
            <a:solidFill>
              <a:srgbClr val="EAF1FB"/>
            </a:solidFill>
            <a:prstDash val="solid"/>
          </a:ln>
        </p:spPr>
      </p:sp>
      <p:sp>
        <p:nvSpPr>
          <p:cNvPr id="11" name="Text 8"/>
          <p:cNvSpPr txBox="1"/>
          <p:nvPr/>
        </p:nvSpPr>
        <p:spPr>
          <a:xfrm>
            <a:off x="4800600" y="1371600"/>
            <a:ext cx="1645920" cy="548640"/>
          </a:xfrm>
          <a:prstGeom prst="rect">
            <a:avLst/>
          </a:prstGeom>
          <a:noFill/>
          <a:ln/>
        </p:spPr>
        <p:txBody>
          <a:bodyPr wrap="square" lIns="0" tIns="0" rIns="0" bIns="0" rtlCol="0" anchor="ctr"/>
          <a:lstStyle/>
          <a:p>
            <a:pPr indent="0" marL="0">
              <a:buNone/>
            </a:pPr>
            <a:r>
              <a:rPr lang="en-US" sz="1600" b="1" dirty="0">
                <a:solidFill>
                  <a:srgbClr val="0E1A2B"/>
                </a:solidFill>
                <a:latin typeface="Calibri" pitchFamily="34" charset="0"/>
                <a:ea typeface="Calibri" pitchFamily="34" charset="-122"/>
                <a:cs typeface="Calibri" pitchFamily="34" charset="-120"/>
              </a:rPr>
              <a:t>Average pool</a:t>
            </a:r>
            <a:endParaRPr lang="en-US" sz="1600" dirty="0"/>
          </a:p>
        </p:txBody>
      </p:sp>
      <p:sp>
        <p:nvSpPr>
          <p:cNvPr id="12" name="Text 9"/>
          <p:cNvSpPr txBox="1"/>
          <p:nvPr/>
        </p:nvSpPr>
        <p:spPr>
          <a:xfrm>
            <a:off x="4800600" y="1920240"/>
            <a:ext cx="1645920" cy="50292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1280 features</a:t>
            </a:r>
            <a:endParaRPr lang="en-US" sz="1200" dirty="0"/>
          </a:p>
        </p:txBody>
      </p:sp>
      <p:sp>
        <p:nvSpPr>
          <p:cNvPr id="13" name="Shape 10"/>
          <p:cNvSpPr/>
          <p:nvPr/>
        </p:nvSpPr>
        <p:spPr>
          <a:xfrm>
            <a:off x="6766560" y="1280160"/>
            <a:ext cx="1920240" cy="1234440"/>
          </a:xfrm>
          <a:prstGeom prst="roundRect">
            <a:avLst>
              <a:gd name="adj" fmla="val 5926"/>
            </a:avLst>
          </a:prstGeom>
          <a:solidFill>
            <a:srgbClr val="EAF1FB"/>
          </a:solidFill>
          <a:ln w="12700">
            <a:solidFill>
              <a:srgbClr val="EAF1FB"/>
            </a:solidFill>
            <a:prstDash val="solid"/>
          </a:ln>
        </p:spPr>
      </p:sp>
      <p:sp>
        <p:nvSpPr>
          <p:cNvPr id="14" name="Text 11"/>
          <p:cNvSpPr txBox="1"/>
          <p:nvPr/>
        </p:nvSpPr>
        <p:spPr>
          <a:xfrm>
            <a:off x="6903720" y="1371600"/>
            <a:ext cx="1645920" cy="548640"/>
          </a:xfrm>
          <a:prstGeom prst="rect">
            <a:avLst/>
          </a:prstGeom>
          <a:noFill/>
          <a:ln/>
        </p:spPr>
        <p:txBody>
          <a:bodyPr wrap="square" lIns="0" tIns="0" rIns="0" bIns="0" rtlCol="0" anchor="ctr"/>
          <a:lstStyle/>
          <a:p>
            <a:pPr indent="0" marL="0">
              <a:buNone/>
            </a:pPr>
            <a:r>
              <a:rPr lang="en-US" sz="1600" b="1" dirty="0">
                <a:solidFill>
                  <a:srgbClr val="0E1A2B"/>
                </a:solidFill>
                <a:latin typeface="Calibri" pitchFamily="34" charset="0"/>
                <a:ea typeface="Calibri" pitchFamily="34" charset="-122"/>
                <a:cs typeface="Calibri" pitchFamily="34" charset="-120"/>
              </a:rPr>
              <a:t>Dropout + Dense</a:t>
            </a:r>
            <a:endParaRPr lang="en-US" sz="1600" dirty="0"/>
          </a:p>
        </p:txBody>
      </p:sp>
      <p:sp>
        <p:nvSpPr>
          <p:cNvPr id="15" name="Text 12"/>
          <p:cNvSpPr txBox="1"/>
          <p:nvPr/>
        </p:nvSpPr>
        <p:spPr>
          <a:xfrm>
            <a:off x="6903720" y="1920240"/>
            <a:ext cx="1645920" cy="502920"/>
          </a:xfrm>
          <a:prstGeom prst="rect">
            <a:avLst/>
          </a:prstGeom>
          <a:noFill/>
          <a:ln/>
        </p:spPr>
        <p:txBody>
          <a:bodyPr wrap="square" lIns="0" tIns="0" rIns="0" bIns="0" rtlCol="0" anchor="t"/>
          <a:lstStyle/>
          <a:p>
            <a:pPr indent="0" marL="0">
              <a:buNone/>
            </a:pPr>
            <a:r>
              <a:rPr lang="en-US" sz="1200" dirty="0">
                <a:solidFill>
                  <a:srgbClr val="5B6573"/>
                </a:solidFill>
                <a:latin typeface="Calibri" pitchFamily="34" charset="0"/>
                <a:ea typeface="Calibri" pitchFamily="34" charset="-122"/>
                <a:cs typeface="Calibri" pitchFamily="34" charset="-120"/>
              </a:rPr>
              <a:t>softmax, 49 brands</a:t>
            </a:r>
            <a:endParaRPr lang="en-US" sz="1200" dirty="0"/>
          </a:p>
        </p:txBody>
      </p:sp>
      <p:sp>
        <p:nvSpPr>
          <p:cNvPr id="16" name="Shape 13"/>
          <p:cNvSpPr/>
          <p:nvPr/>
        </p:nvSpPr>
        <p:spPr>
          <a:xfrm>
            <a:off x="457200" y="2880360"/>
            <a:ext cx="4023360" cy="1417320"/>
          </a:xfrm>
          <a:prstGeom prst="roundRect">
            <a:avLst>
              <a:gd name="adj" fmla="val 5161"/>
            </a:avLst>
          </a:prstGeom>
          <a:solidFill>
            <a:srgbClr val="EAF1FB"/>
          </a:solidFill>
          <a:ln w="12700">
            <a:solidFill>
              <a:srgbClr val="EAF1FB"/>
            </a:solidFill>
            <a:prstDash val="solid"/>
          </a:ln>
        </p:spPr>
      </p:sp>
      <p:sp>
        <p:nvSpPr>
          <p:cNvPr id="17" name="Text 14"/>
          <p:cNvSpPr txBox="1"/>
          <p:nvPr/>
        </p:nvSpPr>
        <p:spPr>
          <a:xfrm>
            <a:off x="640080" y="2971800"/>
            <a:ext cx="3657600" cy="36576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Stage 1: linear probe</a:t>
            </a:r>
            <a:endParaRPr lang="en-US" sz="1800" dirty="0"/>
          </a:p>
        </p:txBody>
      </p:sp>
      <p:sp>
        <p:nvSpPr>
          <p:cNvPr id="18" name="Text 15"/>
          <p:cNvSpPr txBox="1"/>
          <p:nvPr/>
        </p:nvSpPr>
        <p:spPr>
          <a:xfrm>
            <a:off x="640080" y="3383280"/>
            <a:ext cx="3657600" cy="822960"/>
          </a:xfrm>
          <a:prstGeom prst="rect">
            <a:avLst/>
          </a:prstGeom>
          <a:noFill/>
          <a:ln/>
        </p:spPr>
        <p:txBody>
          <a:bodyPr wrap="square" lIns="0" tIns="0" rIns="0" bIns="0" rtlCol="0" anchor="t"/>
          <a:lstStyle/>
          <a:p>
            <a:pPr indent="0" marL="0">
              <a:buNone/>
            </a:pPr>
            <a:r>
              <a:rPr lang="en-US" sz="1500" dirty="0">
                <a:solidFill>
                  <a:srgbClr val="5B6573"/>
                </a:solidFill>
                <a:latin typeface="Calibri" pitchFamily="34" charset="0"/>
                <a:ea typeface="Calibri" pitchFamily="34" charset="-122"/>
                <a:cs typeface="Calibri" pitchFamily="34" charset="-120"/>
              </a:rPr>
              <a:t>Backbone frozen, only the final layer is trained. Test accuracy 60.4%.</a:t>
            </a:r>
            <a:endParaRPr lang="en-US" sz="1500" dirty="0"/>
          </a:p>
        </p:txBody>
      </p:sp>
      <p:sp>
        <p:nvSpPr>
          <p:cNvPr id="19" name="Shape 16"/>
          <p:cNvSpPr/>
          <p:nvPr/>
        </p:nvSpPr>
        <p:spPr>
          <a:xfrm>
            <a:off x="4663440" y="2880360"/>
            <a:ext cx="4023360" cy="1417320"/>
          </a:xfrm>
          <a:prstGeom prst="roundRect">
            <a:avLst>
              <a:gd name="adj" fmla="val 5161"/>
            </a:avLst>
          </a:prstGeom>
          <a:solidFill>
            <a:srgbClr val="EAF1FB"/>
          </a:solidFill>
          <a:ln w="12700">
            <a:solidFill>
              <a:srgbClr val="EAF1FB"/>
            </a:solidFill>
            <a:prstDash val="solid"/>
          </a:ln>
        </p:spPr>
      </p:sp>
      <p:sp>
        <p:nvSpPr>
          <p:cNvPr id="20" name="Text 17"/>
          <p:cNvSpPr txBox="1"/>
          <p:nvPr/>
        </p:nvSpPr>
        <p:spPr>
          <a:xfrm>
            <a:off x="4846320" y="2971800"/>
            <a:ext cx="3657600" cy="36576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Stage 2: fine-tuning</a:t>
            </a:r>
            <a:endParaRPr lang="en-US" sz="1800" dirty="0"/>
          </a:p>
        </p:txBody>
      </p:sp>
      <p:sp>
        <p:nvSpPr>
          <p:cNvPr id="21" name="Text 18"/>
          <p:cNvSpPr txBox="1"/>
          <p:nvPr/>
        </p:nvSpPr>
        <p:spPr>
          <a:xfrm>
            <a:off x="4846320" y="3383280"/>
            <a:ext cx="3657600" cy="822960"/>
          </a:xfrm>
          <a:prstGeom prst="rect">
            <a:avLst/>
          </a:prstGeom>
          <a:noFill/>
          <a:ln/>
        </p:spPr>
        <p:txBody>
          <a:bodyPr wrap="square" lIns="0" tIns="0" rIns="0" bIns="0" rtlCol="0" anchor="t"/>
          <a:lstStyle/>
          <a:p>
            <a:pPr indent="0" marL="0">
              <a:buNone/>
            </a:pPr>
            <a:r>
              <a:rPr lang="en-US" sz="1500" dirty="0">
                <a:solidFill>
                  <a:srgbClr val="5B6573"/>
                </a:solidFill>
                <a:latin typeface="Calibri" pitchFamily="34" charset="0"/>
                <a:ea typeface="Calibri" pitchFamily="34" charset="-122"/>
                <a:cs typeface="Calibri" pitchFamily="34" charset="-120"/>
              </a:rPr>
              <a:t>Upper blocks unfrozen and trained for 12 epochs with augmentation. Test accuracy 86.8%.</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Training setup</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603504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0E1A2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0E1A2B"/>
                    </a:solidFill>
                  </a:tcPr>
                </a:tc>
              </a:tr>
              <a:tr h="411480">
                <a:tc>
                  <a:txBody>
                    <a:bodyPr/>
                    <a:lstStyle/>
                    <a:p>
                      <a:pPr indent="0" marL="0">
                        <a:buNone/>
                      </a:pPr>
                      <a:r>
                        <a:rPr lang="en-US" sz="1400" b="1" dirty="0">
                          <a:solidFill>
                            <a:srgbClr val="0E1A2B"/>
                          </a:solidFill>
                          <a:latin typeface="Calibri" pitchFamily="34" charset="0"/>
                          <a:ea typeface="Calibri" pitchFamily="34" charset="-122"/>
                          <a:cs typeface="Calibri" pitchFamily="34" charset="-120"/>
                        </a:rPr>
                        <a:t>Backbone</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400" dirty="0">
                          <a:solidFill>
                            <a:srgbClr val="5B6573"/>
                          </a:solidFill>
                          <a:latin typeface="Calibri" pitchFamily="34" charset="0"/>
                          <a:ea typeface="Calibri" pitchFamily="34" charset="-122"/>
                          <a:cs typeface="Calibri" pitchFamily="34" charset="-120"/>
                        </a:rPr>
                        <a:t>EfficientNetV2-B0, ImageNet weights</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411480">
                <a:tc>
                  <a:txBody>
                    <a:bodyPr/>
                    <a:lstStyle/>
                    <a:p>
                      <a:pPr indent="0" marL="0">
                        <a:buNone/>
                      </a:pPr>
                      <a:r>
                        <a:rPr lang="en-US" sz="1400" b="1" dirty="0">
                          <a:solidFill>
                            <a:srgbClr val="0E1A2B"/>
                          </a:solidFill>
                          <a:latin typeface="Calibri" pitchFamily="34" charset="0"/>
                          <a:ea typeface="Calibri" pitchFamily="34" charset="-122"/>
                          <a:cs typeface="Calibri" pitchFamily="34" charset="-120"/>
                        </a:rPr>
                        <a:t>Optimiser</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400" dirty="0">
                          <a:solidFill>
                            <a:srgbClr val="5B6573"/>
                          </a:solidFill>
                          <a:latin typeface="Calibri" pitchFamily="34" charset="0"/>
                          <a:ea typeface="Calibri" pitchFamily="34" charset="-122"/>
                          <a:cs typeface="Calibri" pitchFamily="34" charset="-120"/>
                        </a:rPr>
                        <a:t>AdamW, weight decay 1e-4, peak LR 2e-4, cosine decay</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411480">
                <a:tc>
                  <a:txBody>
                    <a:bodyPr/>
                    <a:lstStyle/>
                    <a:p>
                      <a:pPr indent="0" marL="0">
                        <a:buNone/>
                      </a:pPr>
                      <a:r>
                        <a:rPr lang="en-US" sz="1400" b="1" dirty="0">
                          <a:solidFill>
                            <a:srgbClr val="0E1A2B"/>
                          </a:solidFill>
                          <a:latin typeface="Calibri" pitchFamily="34" charset="0"/>
                          <a:ea typeface="Calibri" pitchFamily="34" charset="-122"/>
                          <a:cs typeface="Calibri" pitchFamily="34" charset="-120"/>
                        </a:rPr>
                        <a:t>Loss</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400" dirty="0">
                          <a:solidFill>
                            <a:srgbClr val="5B6573"/>
                          </a:solidFill>
                          <a:latin typeface="Calibri" pitchFamily="34" charset="0"/>
                          <a:ea typeface="Calibri" pitchFamily="34" charset="-122"/>
                          <a:cs typeface="Calibri" pitchFamily="34" charset="-120"/>
                        </a:rPr>
                        <a:t>Cross-entropy, label smoothing 0.1, class weights</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411480">
                <a:tc>
                  <a:txBody>
                    <a:bodyPr/>
                    <a:lstStyle/>
                    <a:p>
                      <a:pPr indent="0" marL="0">
                        <a:buNone/>
                      </a:pPr>
                      <a:r>
                        <a:rPr lang="en-US" sz="1400" b="1" dirty="0">
                          <a:solidFill>
                            <a:srgbClr val="0E1A2B"/>
                          </a:solidFill>
                          <a:latin typeface="Calibri" pitchFamily="34" charset="0"/>
                          <a:ea typeface="Calibri" pitchFamily="34" charset="-122"/>
                          <a:cs typeface="Calibri" pitchFamily="34" charset="-120"/>
                        </a:rPr>
                        <a:t>Batch / epochs</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400" dirty="0">
                          <a:solidFill>
                            <a:srgbClr val="5B6573"/>
                          </a:solidFill>
                          <a:latin typeface="Calibri" pitchFamily="34" charset="0"/>
                          <a:ea typeface="Calibri" pitchFamily="34" charset="-122"/>
                          <a:cs typeface="Calibri" pitchFamily="34" charset="-120"/>
                        </a:rPr>
                        <a:t>32 / 12</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411480">
                <a:tc>
                  <a:txBody>
                    <a:bodyPr/>
                    <a:lstStyle/>
                    <a:p>
                      <a:pPr indent="0" marL="0">
                        <a:buNone/>
                      </a:pPr>
                      <a:r>
                        <a:rPr lang="en-US" sz="1400" b="1" dirty="0">
                          <a:solidFill>
                            <a:srgbClr val="0E1A2B"/>
                          </a:solidFill>
                          <a:latin typeface="Calibri" pitchFamily="34" charset="0"/>
                          <a:ea typeface="Calibri" pitchFamily="34" charset="-122"/>
                          <a:cs typeface="Calibri" pitchFamily="34" charset="-120"/>
                        </a:rPr>
                        <a:t>Augmentation</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400" dirty="0">
                          <a:solidFill>
                            <a:srgbClr val="5B6573"/>
                          </a:solidFill>
                          <a:latin typeface="Calibri" pitchFamily="34" charset="0"/>
                          <a:ea typeface="Calibri" pitchFamily="34" charset="-122"/>
                          <a:cs typeface="Calibri" pitchFamily="34" charset="-120"/>
                        </a:rPr>
                        <a:t>flip, rotation, shift, zoom, brightness, contrast</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411480">
                <a:tc>
                  <a:txBody>
                    <a:bodyPr/>
                    <a:lstStyle/>
                    <a:p>
                      <a:pPr indent="0" marL="0">
                        <a:buNone/>
                      </a:pPr>
                      <a:r>
                        <a:rPr lang="en-US" sz="1400" b="1" dirty="0">
                          <a:solidFill>
                            <a:srgbClr val="0E1A2B"/>
                          </a:solidFill>
                          <a:latin typeface="Calibri" pitchFamily="34" charset="0"/>
                          <a:ea typeface="Calibri" pitchFamily="34" charset="-122"/>
                          <a:cs typeface="Calibri" pitchFamily="34" charset="-120"/>
                        </a:rPr>
                        <a:t>Model selection</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400" dirty="0">
                          <a:solidFill>
                            <a:srgbClr val="5B6573"/>
                          </a:solidFill>
                          <a:latin typeface="Calibri" pitchFamily="34" charset="0"/>
                          <a:ea typeface="Calibri" pitchFamily="34" charset="-122"/>
                          <a:cs typeface="Calibri" pitchFamily="34" charset="-120"/>
                        </a:rPr>
                        <a:t>best validation accuracy</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411480">
                <a:tc>
                  <a:txBody>
                    <a:bodyPr/>
                    <a:lstStyle/>
                    <a:p>
                      <a:pPr indent="0" marL="0">
                        <a:buNone/>
                      </a:pPr>
                      <a:r>
                        <a:rPr lang="en-US" sz="1400" b="1" dirty="0">
                          <a:solidFill>
                            <a:srgbClr val="0E1A2B"/>
                          </a:solidFill>
                          <a:latin typeface="Calibri" pitchFamily="34" charset="0"/>
                          <a:ea typeface="Calibri" pitchFamily="34" charset="-122"/>
                          <a:cs typeface="Calibri" pitchFamily="34" charset="-120"/>
                        </a:rPr>
                        <a:t>Hardware</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400" dirty="0">
                          <a:solidFill>
                            <a:srgbClr val="5B6573"/>
                          </a:solidFill>
                          <a:latin typeface="Calibri" pitchFamily="34" charset="0"/>
                          <a:ea typeface="Calibri" pitchFamily="34" charset="-122"/>
                          <a:cs typeface="Calibri" pitchFamily="34" charset="-120"/>
                        </a:rPr>
                        <a:t>CPU only (4 cores)</a:t>
                      </a:r>
                      <a:endParaRPr lang="en-US" sz="14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Training curves</a:t>
            </a:r>
            <a:endParaRPr lang="en-US" sz="3200" dirty="0"/>
          </a:p>
        </p:txBody>
      </p:sp>
      <p:pic>
        <p:nvPicPr>
          <p:cNvPr id="4" name="Image 0" descr="Training and validation loss and accuracy per epoch">    </p:cNvPr>
          <p:cNvPicPr>
            <a:picLocks noChangeAspect="1"/>
          </p:cNvPicPr>
          <p:nvPr/>
        </p:nvPicPr>
        <p:blipFill>
          <a:blip r:embed="rId1"/>
          <a:stretch>
            <a:fillRect/>
          </a:stretch>
        </p:blipFill>
        <p:spPr>
          <a:xfrm>
            <a:off x="508000" y="1097280"/>
            <a:ext cx="8128000" cy="2926080"/>
          </a:xfrm>
          <a:prstGeom prst="rect">
            <a:avLst/>
          </a:prstGeom>
        </p:spPr>
      </p:pic>
      <p:sp>
        <p:nvSpPr>
          <p:cNvPr id="5" name="Text 1"/>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500" dirty="0">
                <a:solidFill>
                  <a:srgbClr val="5B6573"/>
                </a:solidFill>
                <a:latin typeface="Calibri" pitchFamily="34" charset="0"/>
                <a:ea typeface="Calibri" pitchFamily="34" charset="-122"/>
                <a:cs typeface="Calibri" pitchFamily="34" charset="-120"/>
              </a:rPr>
              <a:t>Best validation accuracy: 86.6% (813 photos, used only to choose the epoch).</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Results on unseen test photos</a:t>
            </a:r>
            <a:endParaRPr lang="en-US" sz="3200" dirty="0"/>
          </a:p>
        </p:txBody>
      </p:sp>
      <p:sp>
        <p:nvSpPr>
          <p:cNvPr id="4" name="Shape 1"/>
          <p:cNvSpPr/>
          <p:nvPr/>
        </p:nvSpPr>
        <p:spPr>
          <a:xfrm>
            <a:off x="457200" y="1188720"/>
            <a:ext cx="2651760" cy="1143000"/>
          </a:xfrm>
          <a:prstGeom prst="roundRect">
            <a:avLst>
              <a:gd name="adj" fmla="val 6400"/>
            </a:avLst>
          </a:prstGeom>
          <a:solidFill>
            <a:srgbClr val="EAF1FB"/>
          </a:solidFill>
          <a:ln w="12700">
            <a:solidFill>
              <a:srgbClr val="EAF1FB"/>
            </a:solidFill>
            <a:prstDash val="solid"/>
          </a:ln>
        </p:spPr>
      </p:sp>
      <p:sp>
        <p:nvSpPr>
          <p:cNvPr id="5" name="Text 2"/>
          <p:cNvSpPr txBox="1"/>
          <p:nvPr/>
        </p:nvSpPr>
        <p:spPr>
          <a:xfrm>
            <a:off x="640080" y="1280160"/>
            <a:ext cx="2286000" cy="594360"/>
          </a:xfrm>
          <a:prstGeom prst="rect">
            <a:avLst/>
          </a:prstGeom>
          <a:noFill/>
          <a:ln/>
        </p:spPr>
        <p:txBody>
          <a:bodyPr wrap="square" lIns="0" tIns="0" rIns="0" bIns="0" rtlCol="0" anchor="ctr"/>
          <a:lstStyle/>
          <a:p>
            <a:pPr indent="0" marL="0">
              <a:buNone/>
            </a:pPr>
            <a:r>
              <a:rPr lang="en-US" sz="3800" b="1" dirty="0">
                <a:solidFill>
                  <a:srgbClr val="2A78D6"/>
                </a:solidFill>
                <a:latin typeface="Calibri" pitchFamily="34" charset="0"/>
                <a:ea typeface="Calibri" pitchFamily="34" charset="-122"/>
                <a:cs typeface="Calibri" pitchFamily="34" charset="-120"/>
              </a:rPr>
              <a:t>86.8%</a:t>
            </a:r>
            <a:endParaRPr lang="en-US" sz="3800" dirty="0"/>
          </a:p>
        </p:txBody>
      </p:sp>
      <p:sp>
        <p:nvSpPr>
          <p:cNvPr id="6" name="Text 3"/>
          <p:cNvSpPr txBox="1"/>
          <p:nvPr/>
        </p:nvSpPr>
        <p:spPr>
          <a:xfrm>
            <a:off x="640080" y="1874520"/>
            <a:ext cx="2286000" cy="36576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top-1 accuracy</a:t>
            </a:r>
            <a:endParaRPr lang="en-US" sz="1300" dirty="0"/>
          </a:p>
        </p:txBody>
      </p:sp>
      <p:sp>
        <p:nvSpPr>
          <p:cNvPr id="7" name="Shape 4"/>
          <p:cNvSpPr/>
          <p:nvPr/>
        </p:nvSpPr>
        <p:spPr>
          <a:xfrm>
            <a:off x="457200" y="2514600"/>
            <a:ext cx="2651760" cy="1143000"/>
          </a:xfrm>
          <a:prstGeom prst="roundRect">
            <a:avLst>
              <a:gd name="adj" fmla="val 6400"/>
            </a:avLst>
          </a:prstGeom>
          <a:solidFill>
            <a:srgbClr val="EAF1FB"/>
          </a:solidFill>
          <a:ln w="12700">
            <a:solidFill>
              <a:srgbClr val="EAF1FB"/>
            </a:solidFill>
            <a:prstDash val="solid"/>
          </a:ln>
        </p:spPr>
      </p:sp>
      <p:sp>
        <p:nvSpPr>
          <p:cNvPr id="8" name="Text 5"/>
          <p:cNvSpPr txBox="1"/>
          <p:nvPr/>
        </p:nvSpPr>
        <p:spPr>
          <a:xfrm>
            <a:off x="640080" y="2606040"/>
            <a:ext cx="2286000" cy="594360"/>
          </a:xfrm>
          <a:prstGeom prst="rect">
            <a:avLst/>
          </a:prstGeom>
          <a:noFill/>
          <a:ln/>
        </p:spPr>
        <p:txBody>
          <a:bodyPr wrap="square" lIns="0" tIns="0" rIns="0" bIns="0" rtlCol="0" anchor="ctr"/>
          <a:lstStyle/>
          <a:p>
            <a:pPr indent="0" marL="0">
              <a:buNone/>
            </a:pPr>
            <a:r>
              <a:rPr lang="en-US" sz="3800" b="1" dirty="0">
                <a:solidFill>
                  <a:srgbClr val="0E1A2B"/>
                </a:solidFill>
                <a:latin typeface="Calibri" pitchFamily="34" charset="0"/>
                <a:ea typeface="Calibri" pitchFamily="34" charset="-122"/>
                <a:cs typeface="Calibri" pitchFamily="34" charset="-120"/>
              </a:rPr>
              <a:t>95.8%</a:t>
            </a:r>
            <a:endParaRPr lang="en-US" sz="3800" dirty="0"/>
          </a:p>
        </p:txBody>
      </p:sp>
      <p:sp>
        <p:nvSpPr>
          <p:cNvPr id="9" name="Text 6"/>
          <p:cNvSpPr txBox="1"/>
          <p:nvPr/>
        </p:nvSpPr>
        <p:spPr>
          <a:xfrm>
            <a:off x="640080" y="3200400"/>
            <a:ext cx="2286000" cy="36576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top-3 accuracy</a:t>
            </a:r>
            <a:endParaRPr lang="en-US" sz="1300" dirty="0"/>
          </a:p>
        </p:txBody>
      </p:sp>
      <p:sp>
        <p:nvSpPr>
          <p:cNvPr id="10" name="Shape 7"/>
          <p:cNvSpPr/>
          <p:nvPr/>
        </p:nvSpPr>
        <p:spPr>
          <a:xfrm>
            <a:off x="457200" y="3840480"/>
            <a:ext cx="2651760" cy="1143000"/>
          </a:xfrm>
          <a:prstGeom prst="roundRect">
            <a:avLst>
              <a:gd name="adj" fmla="val 6400"/>
            </a:avLst>
          </a:prstGeom>
          <a:solidFill>
            <a:srgbClr val="EAF1FB"/>
          </a:solidFill>
          <a:ln w="12700">
            <a:solidFill>
              <a:srgbClr val="EAF1FB"/>
            </a:solidFill>
            <a:prstDash val="solid"/>
          </a:ln>
        </p:spPr>
      </p:sp>
      <p:sp>
        <p:nvSpPr>
          <p:cNvPr id="11" name="Text 8"/>
          <p:cNvSpPr txBox="1"/>
          <p:nvPr/>
        </p:nvSpPr>
        <p:spPr>
          <a:xfrm>
            <a:off x="640080" y="3931920"/>
            <a:ext cx="2286000" cy="594360"/>
          </a:xfrm>
          <a:prstGeom prst="rect">
            <a:avLst/>
          </a:prstGeom>
          <a:noFill/>
          <a:ln/>
        </p:spPr>
        <p:txBody>
          <a:bodyPr wrap="square" lIns="0" tIns="0" rIns="0" bIns="0" rtlCol="0" anchor="ctr"/>
          <a:lstStyle/>
          <a:p>
            <a:pPr indent="0" marL="0">
              <a:buNone/>
            </a:pPr>
            <a:r>
              <a:rPr lang="en-US" sz="3800" b="1" dirty="0">
                <a:solidFill>
                  <a:srgbClr val="0E1A2B"/>
                </a:solidFill>
                <a:latin typeface="Calibri" pitchFamily="34" charset="0"/>
                <a:ea typeface="Calibri" pitchFamily="34" charset="-122"/>
                <a:cs typeface="Calibri" pitchFamily="34" charset="-120"/>
              </a:rPr>
              <a:t>0.87</a:t>
            </a:r>
            <a:endParaRPr lang="en-US" sz="3800" dirty="0"/>
          </a:p>
        </p:txBody>
      </p:sp>
      <p:sp>
        <p:nvSpPr>
          <p:cNvPr id="12" name="Text 9"/>
          <p:cNvSpPr txBox="1"/>
          <p:nvPr/>
        </p:nvSpPr>
        <p:spPr>
          <a:xfrm>
            <a:off x="640080" y="4526280"/>
            <a:ext cx="2286000" cy="365760"/>
          </a:xfrm>
          <a:prstGeom prst="rect">
            <a:avLst/>
          </a:prstGeom>
          <a:noFill/>
          <a:ln/>
        </p:spPr>
        <p:txBody>
          <a:bodyPr wrap="square" lIns="0" tIns="0" rIns="0" bIns="0" rtlCol="0" anchor="t"/>
          <a:lstStyle/>
          <a:p>
            <a:pPr indent="0" marL="0">
              <a:buNone/>
            </a:pPr>
            <a:r>
              <a:rPr lang="en-US" sz="1300" dirty="0">
                <a:solidFill>
                  <a:srgbClr val="5B6573"/>
                </a:solidFill>
                <a:latin typeface="Calibri" pitchFamily="34" charset="0"/>
                <a:ea typeface="Calibri" pitchFamily="34" charset="-122"/>
                <a:cs typeface="Calibri" pitchFamily="34" charset="-120"/>
              </a:rPr>
              <a:t>macro F1</a:t>
            </a:r>
            <a:endParaRPr lang="en-US" sz="1300" dirty="0"/>
          </a:p>
        </p:txBody>
      </p:sp>
      <p:graphicFrame>
        <p:nvGraphicFramePr>
          <p:cNvPr id="13" name="Chart 0" descr=""/>
          <p:cNvGraphicFramePr/>
          <p:nvPr/>
        </p:nvGraphicFramePr>
        <p:xfrm>
          <a:off x="3474720" y="1143000"/>
          <a:ext cx="5212080" cy="36576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Easy and hard brands</a:t>
            </a:r>
            <a:endParaRPr lang="en-US" sz="3200" dirty="0"/>
          </a:p>
        </p:txBody>
      </p:sp>
      <p:pic>
        <p:nvPicPr>
          <p:cNvPr id="4" name="Image 0" descr="F1 score per brand">    </p:cNvPr>
          <p:cNvPicPr>
            <a:picLocks noChangeAspect="1"/>
          </p:cNvPicPr>
          <p:nvPr/>
        </p:nvPicPr>
        <p:blipFill>
          <a:blip r:embed="rId1"/>
          <a:stretch>
            <a:fillRect/>
          </a:stretch>
        </p:blipFill>
        <p:spPr>
          <a:xfrm>
            <a:off x="5248656" y="1005840"/>
            <a:ext cx="3218688" cy="4023360"/>
          </a:xfrm>
          <a:prstGeom prst="rect">
            <a:avLst/>
          </a:prstGeom>
        </p:spPr>
      </p:pic>
      <p:sp>
        <p:nvSpPr>
          <p:cNvPr id="5" name="Text 1"/>
          <p:cNvSpPr txBox="1"/>
          <p:nvPr/>
        </p:nvSpPr>
        <p:spPr>
          <a:xfrm>
            <a:off x="457200" y="1188720"/>
            <a:ext cx="3931920" cy="32004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Best</a:t>
            </a:r>
            <a:endParaRPr lang="en-US" sz="1800" dirty="0"/>
          </a:p>
        </p:txBody>
      </p:sp>
      <p:sp>
        <p:nvSpPr>
          <p:cNvPr id="6" name="Text 2"/>
          <p:cNvSpPr txBox="1"/>
          <p:nvPr/>
        </p:nvSpPr>
        <p:spPr>
          <a:xfrm>
            <a:off x="457200" y="1554480"/>
            <a:ext cx="3931920" cy="1280160"/>
          </a:xfrm>
          <a:prstGeom prst="rect">
            <a:avLst/>
          </a:prstGeom>
          <a:noFill/>
          <a:ln/>
        </p:spPr>
        <p:txBody>
          <a:bodyPr wrap="square" lIns="0" tIns="0" rIns="0" bIns="0" rtlCol="0" anchor="t"/>
          <a:lstStyle/>
          <a:p>
            <a:pPr indent="0" marL="0">
              <a:buNone/>
            </a:pPr>
            <a:r>
              <a:rPr lang="en-US" sz="1500" dirty="0">
                <a:solidFill>
                  <a:srgbClr val="5B6573"/>
                </a:solidFill>
                <a:latin typeface="Calibri" pitchFamily="34" charset="0"/>
                <a:ea typeface="Calibri" pitchFamily="34" charset="-122"/>
                <a:cs typeface="Calibri" pitchFamily="34" charset="-120"/>
              </a:rPr>
              <a:t>MINI  0.96</a:t>
            </a:r>
            <a:endParaRPr lang="en-US" sz="1500" dirty="0"/>
          </a:p>
          <a:p>
            <a:pPr indent="0" marL="0">
              <a:buNone/>
            </a:pPr>
            <a:r>
              <a:rPr lang="en-US" sz="1500" dirty="0">
                <a:solidFill>
                  <a:srgbClr val="5B6573"/>
                </a:solidFill>
                <a:latin typeface="Calibri" pitchFamily="34" charset="0"/>
                <a:ea typeface="Calibri" pitchFamily="34" charset="-122"/>
                <a:cs typeface="Calibri" pitchFamily="34" charset="-120"/>
              </a:rPr>
              <a:t>Geo  0.95</a:t>
            </a:r>
            <a:endParaRPr lang="en-US" sz="1500" dirty="0"/>
          </a:p>
          <a:p>
            <a:pPr indent="0" marL="0">
              <a:buNone/>
            </a:pPr>
            <a:r>
              <a:rPr lang="en-US" sz="1500" dirty="0">
                <a:solidFill>
                  <a:srgbClr val="5B6573"/>
                </a:solidFill>
                <a:latin typeface="Calibri" pitchFamily="34" charset="0"/>
                <a:ea typeface="Calibri" pitchFamily="34" charset="-122"/>
                <a:cs typeface="Calibri" pitchFamily="34" charset="-120"/>
              </a:rPr>
              <a:t>HUMMER  0.94</a:t>
            </a:r>
            <a:endParaRPr lang="en-US" sz="1500" dirty="0"/>
          </a:p>
          <a:p>
            <a:pPr indent="0" marL="0">
              <a:buNone/>
            </a:pPr>
            <a:r>
              <a:rPr lang="en-US" sz="1500" dirty="0">
                <a:solidFill>
                  <a:srgbClr val="5B6573"/>
                </a:solidFill>
                <a:latin typeface="Calibri" pitchFamily="34" charset="0"/>
                <a:ea typeface="Calibri" pitchFamily="34" charset="-122"/>
                <a:cs typeface="Calibri" pitchFamily="34" charset="-120"/>
              </a:rPr>
              <a:t>Isuzu  0.94</a:t>
            </a:r>
            <a:endParaRPr lang="en-US" sz="1500" dirty="0"/>
          </a:p>
          <a:p>
            <a:pPr indent="0" marL="0">
              <a:buNone/>
            </a:pPr>
            <a:r>
              <a:rPr lang="en-US" sz="1500" dirty="0">
                <a:solidFill>
                  <a:srgbClr val="5B6573"/>
                </a:solidFill>
                <a:latin typeface="Calibri" pitchFamily="34" charset="0"/>
                <a:ea typeface="Calibri" pitchFamily="34" charset="-122"/>
                <a:cs typeface="Calibri" pitchFamily="34" charset="-120"/>
              </a:rPr>
              <a:t>Maybach  0.93</a:t>
            </a:r>
            <a:endParaRPr lang="en-US" sz="1500" dirty="0"/>
          </a:p>
        </p:txBody>
      </p:sp>
      <p:sp>
        <p:nvSpPr>
          <p:cNvPr id="7" name="Text 3"/>
          <p:cNvSpPr txBox="1"/>
          <p:nvPr/>
        </p:nvSpPr>
        <p:spPr>
          <a:xfrm>
            <a:off x="457200" y="2926080"/>
            <a:ext cx="3931920" cy="320040"/>
          </a:xfrm>
          <a:prstGeom prst="rect">
            <a:avLst/>
          </a:prstGeom>
          <a:noFill/>
          <a:ln/>
        </p:spPr>
        <p:txBody>
          <a:bodyPr wrap="square" lIns="0" tIns="0" rIns="0" bIns="0" rtlCol="0" anchor="ctr"/>
          <a:lstStyle/>
          <a:p>
            <a:pPr indent="0" marL="0">
              <a:buNone/>
            </a:pPr>
            <a:r>
              <a:rPr lang="en-US" sz="1800" b="1" dirty="0">
                <a:solidFill>
                  <a:srgbClr val="E8742C"/>
                </a:solidFill>
                <a:latin typeface="Calibri" pitchFamily="34" charset="0"/>
                <a:ea typeface="Calibri" pitchFamily="34" charset="-122"/>
                <a:cs typeface="Calibri" pitchFamily="34" charset="-120"/>
              </a:rPr>
              <a:t>Hardest</a:t>
            </a:r>
            <a:endParaRPr lang="en-US" sz="1800" dirty="0"/>
          </a:p>
        </p:txBody>
      </p:sp>
      <p:sp>
        <p:nvSpPr>
          <p:cNvPr id="8" name="Text 4"/>
          <p:cNvSpPr txBox="1"/>
          <p:nvPr/>
        </p:nvSpPr>
        <p:spPr>
          <a:xfrm>
            <a:off x="457200" y="3291840"/>
            <a:ext cx="3931920" cy="1280160"/>
          </a:xfrm>
          <a:prstGeom prst="rect">
            <a:avLst/>
          </a:prstGeom>
          <a:noFill/>
          <a:ln/>
        </p:spPr>
        <p:txBody>
          <a:bodyPr wrap="square" lIns="0" tIns="0" rIns="0" bIns="0" rtlCol="0" anchor="t"/>
          <a:lstStyle/>
          <a:p>
            <a:pPr indent="0" marL="0">
              <a:buNone/>
            </a:pPr>
            <a:r>
              <a:rPr lang="en-US" sz="1500" dirty="0">
                <a:solidFill>
                  <a:srgbClr val="5B6573"/>
                </a:solidFill>
                <a:latin typeface="Calibri" pitchFamily="34" charset="0"/>
                <a:ea typeface="Calibri" pitchFamily="34" charset="-122"/>
                <a:cs typeface="Calibri" pitchFamily="34" charset="-120"/>
              </a:rPr>
              <a:t>Mitsubishi  0.75</a:t>
            </a:r>
            <a:endParaRPr lang="en-US" sz="1500" dirty="0"/>
          </a:p>
          <a:p>
            <a:pPr indent="0" marL="0">
              <a:buNone/>
            </a:pPr>
            <a:r>
              <a:rPr lang="en-US" sz="1500" dirty="0">
                <a:solidFill>
                  <a:srgbClr val="5B6573"/>
                </a:solidFill>
                <a:latin typeface="Calibri" pitchFamily="34" charset="0"/>
                <a:ea typeface="Calibri" pitchFamily="34" charset="-122"/>
                <a:cs typeface="Calibri" pitchFamily="34" charset="-120"/>
              </a:rPr>
              <a:t>Porsche  0.76</a:t>
            </a:r>
            <a:endParaRPr lang="en-US" sz="1500" dirty="0"/>
          </a:p>
          <a:p>
            <a:pPr indent="0" marL="0">
              <a:buNone/>
            </a:pPr>
            <a:r>
              <a:rPr lang="en-US" sz="1500" dirty="0">
                <a:solidFill>
                  <a:srgbClr val="5B6573"/>
                </a:solidFill>
                <a:latin typeface="Calibri" pitchFamily="34" charset="0"/>
                <a:ea typeface="Calibri" pitchFamily="34" charset="-122"/>
                <a:cs typeface="Calibri" pitchFamily="34" charset="-120"/>
              </a:rPr>
              <a:t>Eagle  0.77</a:t>
            </a:r>
            <a:endParaRPr lang="en-US" sz="1500" dirty="0"/>
          </a:p>
          <a:p>
            <a:pPr indent="0" marL="0">
              <a:buNone/>
            </a:pPr>
            <a:r>
              <a:rPr lang="en-US" sz="1500" dirty="0">
                <a:solidFill>
                  <a:srgbClr val="5B6573"/>
                </a:solidFill>
                <a:latin typeface="Calibri" pitchFamily="34" charset="0"/>
                <a:ea typeface="Calibri" pitchFamily="34" charset="-122"/>
                <a:cs typeface="Calibri" pitchFamily="34" charset="-120"/>
              </a:rPr>
              <a:t>Suzuki  0.78</a:t>
            </a:r>
            <a:endParaRPr lang="en-US" sz="1500" dirty="0"/>
          </a:p>
          <a:p>
            <a:pPr indent="0" marL="0">
              <a:buNone/>
            </a:pPr>
            <a:r>
              <a:rPr lang="en-US" sz="1500" dirty="0">
                <a:solidFill>
                  <a:srgbClr val="5B6573"/>
                </a:solidFill>
                <a:latin typeface="Calibri" pitchFamily="34" charset="0"/>
                <a:ea typeface="Calibri" pitchFamily="34" charset="-122"/>
                <a:cs typeface="Calibri" pitchFamily="34" charset="-120"/>
              </a:rPr>
              <a:t>Ram  0.78</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What does the model mix up?</a:t>
            </a:r>
            <a:endParaRPr lang="en-US" sz="3200" dirty="0"/>
          </a:p>
        </p:txBody>
      </p:sp>
      <p:pic>
        <p:nvPicPr>
          <p:cNvPr id="4" name="Image 0" descr="Confusion matrix of true versus predicted brand">    </p:cNvPr>
          <p:cNvPicPr>
            <a:picLocks noChangeAspect="1"/>
          </p:cNvPicPr>
          <p:nvPr/>
        </p:nvPicPr>
        <p:blipFill>
          <a:blip r:embed="rId1"/>
          <a:stretch>
            <a:fillRect/>
          </a:stretch>
        </p:blipFill>
        <p:spPr>
          <a:xfrm>
            <a:off x="423407" y="960120"/>
            <a:ext cx="4548146" cy="4023360"/>
          </a:xfrm>
          <a:prstGeom prst="rect">
            <a:avLst/>
          </a:prstGeom>
        </p:spPr>
      </p:pic>
      <p:sp>
        <p:nvSpPr>
          <p:cNvPr id="5" name="Text 1"/>
          <p:cNvSpPr txBox="1"/>
          <p:nvPr/>
        </p:nvSpPr>
        <p:spPr>
          <a:xfrm>
            <a:off x="5120640" y="1097280"/>
            <a:ext cx="3566160" cy="36576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Most frequent mix-ups</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120640" y="1554480"/>
          <a:ext cx="3566160" cy="914400"/>
        </p:xfrm>
        <a:graphic>
          <a:graphicData uri="http://schemas.openxmlformats.org/drawingml/2006/table">
            <a:tbl>
              <a:tblPr/>
              <a:tblGrid>
                <a:gridCol w="1280160"/>
                <a:gridCol w="1554480"/>
                <a:gridCol w="7315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True</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Predicted as</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0E1A2B"/>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Photos</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0E1A2B"/>
                    </a:solidFill>
                  </a:tcPr>
                </a:tc>
              </a:tr>
              <a:tr h="384048">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Chevrolet</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GMC</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300" dirty="0">
                          <a:solidFill>
                            <a:srgbClr val="0E1A2B"/>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84048">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Chevrolet</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Dodge</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300" dirty="0">
                          <a:solidFill>
                            <a:srgbClr val="0E1A2B"/>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84048">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Ford</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Dodge</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300" dirty="0">
                          <a:solidFill>
                            <a:srgbClr val="0E1A2B"/>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84048">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Chevrolet</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Hyundai</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300" dirty="0">
                          <a:solidFill>
                            <a:srgbClr val="0E1A2B"/>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r h="384048">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Dodge</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indent="0" marL="0">
                        <a:buNone/>
                      </a:pPr>
                      <a:r>
                        <a:rPr lang="en-US" sz="1300" dirty="0">
                          <a:solidFill>
                            <a:srgbClr val="0E1A2B"/>
                          </a:solidFill>
                          <a:latin typeface="Calibri" pitchFamily="34" charset="0"/>
                          <a:ea typeface="Calibri" pitchFamily="34" charset="-122"/>
                          <a:cs typeface="Calibri" pitchFamily="34" charset="-120"/>
                        </a:rPr>
                        <a:t>Mercedes-Benz</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c>
                  <a:txBody>
                    <a:bodyPr/>
                    <a:lstStyle/>
                    <a:p>
                      <a:pPr algn="r" indent="0" marL="0">
                        <a:buNone/>
                      </a:pPr>
                      <a:r>
                        <a:rPr lang="en-US" sz="1300" dirty="0">
                          <a:solidFill>
                            <a:srgbClr val="0E1A2B"/>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Sample predictions</a:t>
            </a:r>
            <a:endParaRPr lang="en-US" sz="3200" dirty="0"/>
          </a:p>
        </p:txBody>
      </p:sp>
      <p:pic>
        <p:nvPicPr>
          <p:cNvPr id="4" name="Image 0" descr="Random test photos with predicted and true brands">    </p:cNvPr>
          <p:cNvPicPr>
            <a:picLocks noChangeAspect="1"/>
          </p:cNvPicPr>
          <p:nvPr/>
        </p:nvPicPr>
        <p:blipFill>
          <a:blip r:embed="rId1"/>
          <a:stretch>
            <a:fillRect/>
          </a:stretch>
        </p:blipFill>
        <p:spPr>
          <a:xfrm>
            <a:off x="1934737" y="1005840"/>
            <a:ext cx="5274527" cy="3931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Deployment: a website that runs the model</a:t>
            </a:r>
            <a:endParaRPr lang="en-US" sz="3200" dirty="0"/>
          </a:p>
        </p:txBody>
      </p:sp>
      <p:sp>
        <p:nvSpPr>
          <p:cNvPr id="4" name="Text 1"/>
          <p:cNvSpPr txBox="1"/>
          <p:nvPr/>
        </p:nvSpPr>
        <p:spPr>
          <a:xfrm>
            <a:off x="457200" y="1234440"/>
            <a:ext cx="3566160"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2B"/>
                </a:solidFill>
                <a:latin typeface="Calibri" pitchFamily="34" charset="0"/>
                <a:ea typeface="Calibri" pitchFamily="34" charset="-122"/>
                <a:cs typeface="Calibri" pitchFamily="34" charset="-120"/>
              </a:rPr>
              <a:t>Keras model exported to ONNX (24 MB), same predictions as the original</a:t>
            </a:r>
            <a:endParaRPr lang="en-US" sz="1500" dirty="0"/>
          </a:p>
          <a:p>
            <a:pPr marL="342900" indent="-342900">
              <a:spcAft>
                <a:spcPts val="800"/>
              </a:spcAft>
              <a:buSzPct val="100000"/>
              <a:buChar char="•"/>
            </a:pPr>
            <a:r>
              <a:rPr lang="en-US" sz="1500" dirty="0">
                <a:solidFill>
                  <a:srgbClr val="0E1A2B"/>
                </a:solidFill>
                <a:latin typeface="Calibri" pitchFamily="34" charset="0"/>
                <a:ea typeface="Calibri" pitchFamily="34" charset="-122"/>
                <a:cs typeface="Calibri" pitchFamily="34" charset="-120"/>
              </a:rPr>
              <a:t>ONNX Runtime Web runs inference in the browser, no backend</a:t>
            </a:r>
            <a:endParaRPr lang="en-US" sz="1500" dirty="0"/>
          </a:p>
          <a:p>
            <a:pPr marL="342900" indent="-342900">
              <a:spcAft>
                <a:spcPts val="800"/>
              </a:spcAft>
              <a:buSzPct val="100000"/>
              <a:buChar char="•"/>
            </a:pPr>
            <a:r>
              <a:rPr lang="en-US" sz="1500" dirty="0">
                <a:solidFill>
                  <a:srgbClr val="0E1A2B"/>
                </a:solidFill>
                <a:latin typeface="Calibri" pitchFamily="34" charset="0"/>
                <a:ea typeface="Calibri" pitchFamily="34" charset="-122"/>
                <a:cs typeface="Calibri" pitchFamily="34" charset="-120"/>
              </a:rPr>
              <a:t>The photo stays on the user's device</a:t>
            </a:r>
            <a:endParaRPr lang="en-US" sz="1500" dirty="0"/>
          </a:p>
          <a:p>
            <a:pPr marL="342900" indent="-342900">
              <a:spcAft>
                <a:spcPts val="800"/>
              </a:spcAft>
              <a:buSzPct val="100000"/>
              <a:buChar char="•"/>
            </a:pPr>
            <a:r>
              <a:rPr lang="en-US" sz="1500" dirty="0">
                <a:solidFill>
                  <a:srgbClr val="0E1A2B"/>
                </a:solidFill>
                <a:latin typeface="Calibri" pitchFamily="34" charset="0"/>
                <a:ea typeface="Calibri" pitchFamily="34" charset="-122"/>
                <a:cs typeface="Calibri" pitchFamily="34" charset="-120"/>
              </a:rPr>
              <a:t>Static site on Vercel: demo, dataset and code, results, project links</a:t>
            </a:r>
            <a:endParaRPr lang="en-US" sz="1500" dirty="0"/>
          </a:p>
        </p:txBody>
      </p:sp>
      <p:pic>
        <p:nvPicPr>
          <p:cNvPr id="5" name="Image 0" descr="Screenshot of the demo on the website">    </p:cNvPr>
          <p:cNvPicPr>
            <a:picLocks noChangeAspect="1"/>
          </p:cNvPicPr>
          <p:nvPr/>
        </p:nvPicPr>
        <p:blipFill>
          <a:blip r:embed="rId1"/>
          <a:stretch>
            <a:fillRect/>
          </a:stretch>
        </p:blipFill>
        <p:spPr>
          <a:xfrm>
            <a:off x="4206240" y="1779270"/>
            <a:ext cx="4480560" cy="22936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t"/>
          <a:lstStyle/>
          <a:p>
            <a:pPr indent="0" marL="0">
              <a:buNone/>
            </a:pPr>
            <a:r>
              <a:rPr lang="en-US" sz="3200" b="1" dirty="0">
                <a:solidFill>
                  <a:srgbClr val="0E1A2B"/>
                </a:solidFill>
                <a:latin typeface="Calibri" pitchFamily="34" charset="0"/>
                <a:ea typeface="Calibri" pitchFamily="34" charset="-122"/>
                <a:cs typeface="Calibri" pitchFamily="34" charset="-120"/>
              </a:rPr>
              <a:t>Limitations and future work</a:t>
            </a:r>
            <a:endParaRPr lang="en-US" sz="3200" dirty="0"/>
          </a:p>
        </p:txBody>
      </p:sp>
      <p:sp>
        <p:nvSpPr>
          <p:cNvPr id="4" name="Shape 1"/>
          <p:cNvSpPr/>
          <p:nvPr/>
        </p:nvSpPr>
        <p:spPr>
          <a:xfrm>
            <a:off x="457200" y="1188720"/>
            <a:ext cx="4023360" cy="2743200"/>
          </a:xfrm>
          <a:prstGeom prst="roundRect">
            <a:avLst>
              <a:gd name="adj" fmla="val 2667"/>
            </a:avLst>
          </a:prstGeom>
          <a:solidFill>
            <a:srgbClr val="EAF1FB"/>
          </a:solidFill>
          <a:ln w="12700">
            <a:solidFill>
              <a:srgbClr val="EAF1FB"/>
            </a:solidFill>
            <a:prstDash val="solid"/>
          </a:ln>
        </p:spPr>
      </p:sp>
      <p:sp>
        <p:nvSpPr>
          <p:cNvPr id="5" name="Text 2"/>
          <p:cNvSpPr txBox="1"/>
          <p:nvPr/>
        </p:nvSpPr>
        <p:spPr>
          <a:xfrm>
            <a:off x="640080" y="1280160"/>
            <a:ext cx="3657600" cy="3657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Limitations</a:t>
            </a:r>
            <a:endParaRPr lang="en-US" sz="2000" dirty="0"/>
          </a:p>
        </p:txBody>
      </p:sp>
      <p:sp>
        <p:nvSpPr>
          <p:cNvPr id="6" name="Text 3"/>
          <p:cNvSpPr txBox="1"/>
          <p:nvPr/>
        </p:nvSpPr>
        <p:spPr>
          <a:xfrm>
            <a:off x="640080" y="1737360"/>
            <a:ext cx="365760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Some brands appear through a single model</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Mostly cars from 2000-2012</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No 'unknown' or 'not a car' class</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Small brands have few training photos</a:t>
            </a:r>
            <a:endParaRPr lang="en-US" sz="1600" dirty="0"/>
          </a:p>
        </p:txBody>
      </p:sp>
      <p:sp>
        <p:nvSpPr>
          <p:cNvPr id="7" name="Shape 4"/>
          <p:cNvSpPr/>
          <p:nvPr/>
        </p:nvSpPr>
        <p:spPr>
          <a:xfrm>
            <a:off x="4663440" y="1188720"/>
            <a:ext cx="4023360" cy="2743200"/>
          </a:xfrm>
          <a:prstGeom prst="roundRect">
            <a:avLst>
              <a:gd name="adj" fmla="val 2667"/>
            </a:avLst>
          </a:prstGeom>
          <a:solidFill>
            <a:srgbClr val="EAF1FB"/>
          </a:solidFill>
          <a:ln w="12700">
            <a:solidFill>
              <a:srgbClr val="EAF1FB"/>
            </a:solidFill>
            <a:prstDash val="solid"/>
          </a:ln>
        </p:spPr>
      </p:sp>
      <p:sp>
        <p:nvSpPr>
          <p:cNvPr id="8" name="Text 5"/>
          <p:cNvSpPr txBox="1"/>
          <p:nvPr/>
        </p:nvSpPr>
        <p:spPr>
          <a:xfrm>
            <a:off x="4846320" y="1280160"/>
            <a:ext cx="3657600" cy="3657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Future work</a:t>
            </a:r>
            <a:endParaRPr lang="en-US" sz="2000" dirty="0"/>
          </a:p>
        </p:txBody>
      </p:sp>
      <p:sp>
        <p:nvSpPr>
          <p:cNvPr id="9" name="Text 6"/>
          <p:cNvSpPr txBox="1"/>
          <p:nvPr/>
        </p:nvSpPr>
        <p:spPr>
          <a:xfrm>
            <a:off x="4846320" y="1737360"/>
            <a:ext cx="365760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Detect and crop the car first</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More recent, larger dataset</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Add an 'unknown' class</a:t>
            </a:r>
            <a:endParaRPr lang="en-US" sz="1600" dirty="0"/>
          </a:p>
          <a:p>
            <a:pPr marL="342900" indent="-342900">
              <a:spcAft>
                <a:spcPts val="800"/>
              </a:spcAft>
              <a:buSzPct val="100000"/>
              <a:buChar char="•"/>
            </a:pPr>
            <a:r>
              <a:rPr lang="en-US" sz="1600" dirty="0">
                <a:solidFill>
                  <a:srgbClr val="0E1A2B"/>
                </a:solidFill>
                <a:latin typeface="Calibri" pitchFamily="34" charset="0"/>
                <a:ea typeface="Calibri" pitchFamily="34" charset="-122"/>
                <a:cs typeface="Calibri" pitchFamily="34" charset="-120"/>
              </a:rPr>
              <a:t>Higher resolution and test-time augmentation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457200"/>
            <a:ext cx="786384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3" name="Text 1"/>
          <p:cNvSpPr txBox="1"/>
          <p:nvPr/>
        </p:nvSpPr>
        <p:spPr>
          <a:xfrm>
            <a:off x="640080" y="1371600"/>
            <a:ext cx="7863840" cy="2377440"/>
          </a:xfrm>
          <a:prstGeom prst="rect">
            <a:avLst/>
          </a:prstGeom>
          <a:noFill/>
          <a:ln/>
        </p:spPr>
        <p:txBody>
          <a:bodyPr wrap="square" lIns="0" tIns="0" rIns="0" bIns="0" rtlCol="0" anchor="t"/>
          <a:lstStyle/>
          <a:p>
            <a:pPr marL="342900" indent="-342900">
              <a:spcAft>
                <a:spcPts val="800"/>
              </a:spcAft>
              <a:buSzPct val="100000"/>
              <a:buChar char="•"/>
            </a:pPr>
            <a:r>
              <a:rPr lang="en-US" sz="2200" dirty="0">
                <a:solidFill>
                  <a:srgbClr val="DCE6F5"/>
                </a:solidFill>
                <a:latin typeface="Calibri" pitchFamily="34" charset="0"/>
                <a:ea typeface="Calibri" pitchFamily="34" charset="-122"/>
                <a:cs typeface="Calibri" pitchFamily="34" charset="-120"/>
              </a:rPr>
              <a:t>A fine-tuned EfficientNetV2-B0 recognises 49 car brands with 86.8% top-1 and 95.8% top-3 accuracy on unseen photos.</a:t>
            </a:r>
            <a:endParaRPr lang="en-US" sz="2200" dirty="0"/>
          </a:p>
          <a:p>
            <a:pPr marL="342900" indent="-342900">
              <a:spcAft>
                <a:spcPts val="800"/>
              </a:spcAft>
              <a:buSzPct val="100000"/>
              <a:buChar char="•"/>
            </a:pPr>
            <a:r>
              <a:rPr lang="en-US" sz="2200" dirty="0">
                <a:solidFill>
                  <a:srgbClr val="DCE6F5"/>
                </a:solidFill>
                <a:latin typeface="Calibri" pitchFamily="34" charset="0"/>
                <a:ea typeface="Calibri" pitchFamily="34" charset="-122"/>
                <a:cs typeface="Calibri" pitchFamily="34" charset="-120"/>
              </a:rPr>
              <a:t>Fine-tuning improved the frozen-backbone baseline from 60.4% to 86.8%.</a:t>
            </a:r>
            <a:endParaRPr lang="en-US" sz="2200" dirty="0"/>
          </a:p>
          <a:p>
            <a:pPr marL="342900" indent="-342900">
              <a:buSzPct val="100000"/>
              <a:buChar char="•"/>
            </a:pPr>
            <a:r>
              <a:rPr lang="en-US" sz="2200" dirty="0">
                <a:solidFill>
                  <a:srgbClr val="DCE6F5"/>
                </a:solidFill>
                <a:latin typeface="Calibri" pitchFamily="34" charset="0"/>
                <a:ea typeface="Calibri" pitchFamily="34" charset="-122"/>
                <a:cs typeface="Calibri" pitchFamily="34" charset="-120"/>
              </a:rPr>
              <a:t>The model runs in the browser, so the whole app is a static website.</a:t>
            </a:r>
            <a:endParaRPr lang="en-US" sz="2200" dirty="0"/>
          </a:p>
        </p:txBody>
      </p:sp>
      <p:sp>
        <p:nvSpPr>
          <p:cNvPr id="4" name="Text 2"/>
          <p:cNvSpPr txBox="1"/>
          <p:nvPr/>
        </p:nvSpPr>
        <p:spPr>
          <a:xfrm>
            <a:off x="640080" y="4206240"/>
            <a:ext cx="36576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Brand Recognition with Deep Learning</dc:title>
  <dc:subject>PptxGenJS Presentation</dc:subject>
  <dc:creator>PptxGenJS</dc:creator>
  <cp:lastModifiedBy>PptxGenJS</cp:lastModifiedBy>
  <cp:revision>1</cp:revision>
  <dcterms:created xsi:type="dcterms:W3CDTF">2026-10-27T17:47:24Z</dcterms:created>
  <dcterms:modified xsi:type="dcterms:W3CDTF">2026-10-27T17:47:24Z</dcterms:modified>
</cp:coreProperties>
</file>